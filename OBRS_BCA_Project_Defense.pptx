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Nl0e14yoANOKdakHad6EISB2d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5a05a22c8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c5a05a22c8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g3c5a05a22c8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5a05a22c8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3c5a05a22c8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c5a05a22c8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5a05a22c8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g3c5a05a22c8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g3c5a05a22c8_0_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5a05a22c8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c5a05a22c8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c5a05a22c8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5a05a22c8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c5a05a22c8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c5a05a22c8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5a05a22c8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3c5a05a22c8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c5a05a22c8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60c71d1ba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960c71d1ba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960c71d1ba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bussewa.infinityfreeapp.com/BCA-4TH-PROJECT-BUS-RESERVATION/pages/public/home.ph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bussewa.infinityfreeapp.com/BCA-4TH-PROJECT-BUS-RESERVATION/pages/public/home.php" TargetMode="External"/><Relationship Id="rId4" Type="http://schemas.openxmlformats.org/officeDocument/2006/relationships/hyperlink" Target="https://www.bussewanepal.com" TargetMode="External"/><Relationship Id="rId11" Type="http://schemas.openxmlformats.org/officeDocument/2006/relationships/hyperlink" Target="https://arkajainuniversity.ac.in/naac/dvv-clarification/Criteria%201/1.3.4/1_3_4_DOCUMENTS/MCA/AJU210650.pdf" TargetMode="External"/><Relationship Id="rId10" Type="http://schemas.openxmlformats.org/officeDocument/2006/relationships/hyperlink" Target="https://www.ioinformatic.org/index.php/JAIEA/article/view/934" TargetMode="External"/><Relationship Id="rId9" Type="http://schemas.openxmlformats.org/officeDocument/2006/relationships/hyperlink" Target="https://iiste.org/Journals/index.php/CEIS/article/view/18128" TargetMode="External"/><Relationship Id="rId5" Type="http://schemas.openxmlformats.org/officeDocument/2006/relationships/hyperlink" Target="https://www.sourcecodester.com/php/5012/online-bus-ticket-reservation-using-phpmysql.html" TargetMode="External"/><Relationship Id="rId6" Type="http://schemas.openxmlformats.org/officeDocument/2006/relationships/hyperlink" Target="https://www.ijraset.com/research-paper/online-quick-bus-ticket-reservation-system" TargetMode="External"/><Relationship Id="rId7" Type="http://schemas.openxmlformats.org/officeDocument/2006/relationships/hyperlink" Target="https://www.studocu.com/row/document/pokhara-university/simulation-and-modelling/final-project-report-online-bus-reservation-system-eng-190/134856650" TargetMode="External"/><Relationship Id="rId8" Type="http://schemas.openxmlformats.org/officeDocument/2006/relationships/hyperlink" Target="https://hamrobus.wordpress.com/2015/06/08/nepal-online-bus-booking-hamrobu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bussewa.infinityfreeapp.com/BCA-4TH-PROJECT-BUS-RESERVATION/pages/public/home.ph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8090"/>
        </a:solidFill>
      </p:bgPr>
    </p:bg>
    <p:spTree>
      <p:nvGrpSpPr>
        <p:cNvPr id="15" name="Shape 15"/>
        <p:cNvGrpSpPr/>
        <p:nvPr/>
      </p:nvGrpSpPr>
      <p:grpSpPr>
        <a:xfrm>
          <a:off x="0" y="0"/>
          <a:ext cx="0" cy="0"/>
          <a:chOff x="0" y="0"/>
          <a:chExt cx="0" cy="0"/>
        </a:xfrm>
      </p:grpSpPr>
      <p:sp>
        <p:nvSpPr>
          <p:cNvPr id="16" name="Google Shape;16;p1"/>
          <p:cNvSpPr/>
          <p:nvPr/>
        </p:nvSpPr>
        <p:spPr>
          <a:xfrm>
            <a:off x="457200" y="386350"/>
            <a:ext cx="8229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Online Bus Reservation System</a:t>
            </a:r>
            <a:endParaRPr b="0" i="0" sz="4800" u="none" cap="none" strike="noStrike">
              <a:solidFill>
                <a:schemeClr val="dk1"/>
              </a:solidFill>
              <a:latin typeface="Calibri"/>
              <a:ea typeface="Calibri"/>
              <a:cs typeface="Calibri"/>
              <a:sym typeface="Calibri"/>
            </a:endParaRPr>
          </a:p>
        </p:txBody>
      </p:sp>
      <p:sp>
        <p:nvSpPr>
          <p:cNvPr id="17" name="Google Shape;17;p1"/>
          <p:cNvSpPr/>
          <p:nvPr/>
        </p:nvSpPr>
        <p:spPr>
          <a:xfrm>
            <a:off x="504650" y="1596600"/>
            <a:ext cx="8229600"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Calibri"/>
              <a:buNone/>
            </a:pPr>
            <a:r>
              <a:rPr b="1" lang="en-US" sz="3200">
                <a:solidFill>
                  <a:schemeClr val="lt1"/>
                </a:solidFill>
                <a:latin typeface="Calibri"/>
                <a:ea typeface="Calibri"/>
                <a:cs typeface="Calibri"/>
                <a:sym typeface="Calibri"/>
              </a:rPr>
              <a:t>Project Team &amp; Supervision</a:t>
            </a:r>
            <a:endParaRPr sz="3200">
              <a:solidFill>
                <a:schemeClr val="dk1"/>
              </a:solidFill>
              <a:latin typeface="Calibri"/>
              <a:ea typeface="Calibri"/>
              <a:cs typeface="Calibri"/>
              <a:sym typeface="Calibri"/>
            </a:endParaRPr>
          </a:p>
          <a:p>
            <a:pPr indent="0" lvl="0" marL="0" marR="0" rtl="0" algn="ctr">
              <a:spcBef>
                <a:spcPts val="0"/>
              </a:spcBef>
              <a:spcAft>
                <a:spcPts val="0"/>
              </a:spcAft>
              <a:buClr>
                <a:srgbClr val="02C39A"/>
              </a:buClr>
              <a:buSzPts val="2400"/>
              <a:buFont typeface="Calibri"/>
              <a:buNone/>
            </a:pPr>
            <a:r>
              <a:t/>
            </a:r>
            <a:endParaRPr sz="2400">
              <a:solidFill>
                <a:srgbClr val="F1F1F1"/>
              </a:solidFill>
              <a:latin typeface="Calibri"/>
              <a:ea typeface="Calibri"/>
              <a:cs typeface="Calibri"/>
              <a:sym typeface="Calibri"/>
            </a:endParaRPr>
          </a:p>
        </p:txBody>
      </p:sp>
      <p:sp>
        <p:nvSpPr>
          <p:cNvPr id="18" name="Google Shape;18;p1"/>
          <p:cNvSpPr/>
          <p:nvPr/>
        </p:nvSpPr>
        <p:spPr>
          <a:xfrm>
            <a:off x="457200" y="4114800"/>
            <a:ext cx="82296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1F1F1"/>
              </a:buClr>
              <a:buSzPts val="1400"/>
              <a:buFont typeface="Calibri"/>
              <a:buNone/>
            </a:pPr>
            <a:r>
              <a:rPr b="0" i="0" lang="en-US" sz="1400" u="none" cap="none" strike="noStrike">
                <a:solidFill>
                  <a:srgbClr val="F1F1F1"/>
                </a:solidFill>
                <a:latin typeface="Calibri"/>
                <a:ea typeface="Calibri"/>
                <a:cs typeface="Calibri"/>
                <a:sym typeface="Calibri"/>
              </a:rPr>
              <a:t>Tribhuvan University</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1F1F1"/>
              </a:buClr>
              <a:buSzPts val="1400"/>
              <a:buFont typeface="Calibri"/>
              <a:buNone/>
            </a:pPr>
            <a:r>
              <a:rPr b="0" i="0" lang="en-US" sz="1400" u="none" cap="none" strike="noStrike">
                <a:solidFill>
                  <a:srgbClr val="F1F1F1"/>
                </a:solidFill>
                <a:latin typeface="Calibri"/>
                <a:ea typeface="Calibri"/>
                <a:cs typeface="Calibri"/>
                <a:sym typeface="Calibri"/>
              </a:rPr>
              <a:t>Faculty of Humanities and Social Sciences</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1F1F1"/>
              </a:buClr>
              <a:buSzPts val="1400"/>
              <a:buFont typeface="Calibri"/>
              <a:buNone/>
            </a:pPr>
            <a:r>
              <a:rPr b="0" i="0" lang="en-US" sz="1400" u="none" cap="none" strike="noStrike">
                <a:solidFill>
                  <a:srgbClr val="F1F1F1"/>
                </a:solidFill>
                <a:latin typeface="Calibri"/>
                <a:ea typeface="Calibri"/>
                <a:cs typeface="Calibri"/>
                <a:sym typeface="Calibri"/>
              </a:rPr>
              <a:t>Nepalaya College, Kalanki</a:t>
            </a:r>
            <a:endParaRPr b="0" i="0" sz="1400" u="none" cap="none" strike="noStrike">
              <a:solidFill>
                <a:schemeClr val="dk1"/>
              </a:solidFill>
              <a:latin typeface="Calibri"/>
              <a:ea typeface="Calibri"/>
              <a:cs typeface="Calibri"/>
              <a:sym typeface="Calibri"/>
            </a:endParaRPr>
          </a:p>
        </p:txBody>
      </p:sp>
      <p:sp>
        <p:nvSpPr>
          <p:cNvPr id="19" name="Google Shape;19;p1"/>
          <p:cNvSpPr/>
          <p:nvPr/>
        </p:nvSpPr>
        <p:spPr>
          <a:xfrm>
            <a:off x="874750" y="2462050"/>
            <a:ext cx="3251100" cy="9660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1F1F1"/>
              </a:buClr>
              <a:buSzPts val="1400"/>
              <a:buFont typeface="Calibri"/>
              <a:buChar char="•"/>
            </a:pPr>
            <a:r>
              <a:rPr b="0" i="0" lang="en-US" sz="1400" u="none" cap="none" strike="noStrike">
                <a:solidFill>
                  <a:srgbClr val="F1F1F1"/>
                </a:solidFill>
                <a:latin typeface="Calibri"/>
                <a:ea typeface="Calibri"/>
                <a:cs typeface="Calibri"/>
                <a:sym typeface="Calibri"/>
              </a:rPr>
              <a:t>Udesh Regmi (6-2-577-22-2023)</a:t>
            </a:r>
            <a:endParaRPr b="0" i="0" sz="1400" u="none" cap="none" strike="noStrike">
              <a:solidFill>
                <a:srgbClr val="F1F1F1"/>
              </a:solidFill>
              <a:latin typeface="Calibri"/>
              <a:ea typeface="Calibri"/>
              <a:cs typeface="Calibri"/>
              <a:sym typeface="Calibri"/>
            </a:endParaRPr>
          </a:p>
          <a:p>
            <a:pPr indent="-342900" lvl="0" marL="342900" marR="0" rtl="0" algn="l">
              <a:spcBef>
                <a:spcPts val="0"/>
              </a:spcBef>
              <a:spcAft>
                <a:spcPts val="0"/>
              </a:spcAft>
              <a:buClr>
                <a:srgbClr val="F1F1F1"/>
              </a:buClr>
              <a:buSzPts val="1400"/>
              <a:buFont typeface="Calibri"/>
              <a:buChar char="•"/>
            </a:pPr>
            <a:r>
              <a:rPr b="0" i="0" lang="en-US" sz="1400" u="none" cap="none" strike="noStrike">
                <a:solidFill>
                  <a:srgbClr val="F1F1F1"/>
                </a:solidFill>
                <a:latin typeface="Calibri"/>
                <a:ea typeface="Calibri"/>
                <a:cs typeface="Calibri"/>
                <a:sym typeface="Calibri"/>
              </a:rPr>
              <a:t>Sangam Sedai (6-2-577-19-2023)</a:t>
            </a:r>
            <a:endParaRPr b="0" i="0" sz="1400" u="none" cap="none" strike="noStrike">
              <a:solidFill>
                <a:srgbClr val="F1F1F1"/>
              </a:solidFill>
              <a:latin typeface="Calibri"/>
              <a:ea typeface="Calibri"/>
              <a:cs typeface="Calibri"/>
              <a:sym typeface="Calibri"/>
            </a:endParaRPr>
          </a:p>
        </p:txBody>
      </p:sp>
      <p:sp>
        <p:nvSpPr>
          <p:cNvPr id="20" name="Google Shape;20;p1"/>
          <p:cNvSpPr/>
          <p:nvPr/>
        </p:nvSpPr>
        <p:spPr>
          <a:xfrm>
            <a:off x="323470" y="2083155"/>
            <a:ext cx="7680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800"/>
              <a:buFont typeface="Calibri"/>
              <a:buNone/>
            </a:pPr>
            <a:r>
              <a:rPr b="1" i="0" lang="en-US" sz="1800" u="none" cap="none" strike="noStrike">
                <a:solidFill>
                  <a:schemeClr val="lt1"/>
                </a:solidFill>
                <a:latin typeface="Calibri"/>
                <a:ea typeface="Calibri"/>
                <a:cs typeface="Calibri"/>
                <a:sym typeface="Calibri"/>
              </a:rPr>
              <a:t>Submitted By:</a:t>
            </a:r>
            <a:endParaRPr b="0" i="0" sz="1800" u="none" cap="none" strike="noStrike">
              <a:solidFill>
                <a:schemeClr val="lt1"/>
              </a:solidFill>
              <a:latin typeface="Calibri"/>
              <a:ea typeface="Calibri"/>
              <a:cs typeface="Calibri"/>
              <a:sym typeface="Calibri"/>
            </a:endParaRPr>
          </a:p>
        </p:txBody>
      </p:sp>
      <p:sp>
        <p:nvSpPr>
          <p:cNvPr id="21" name="Google Shape;21;p1"/>
          <p:cNvSpPr/>
          <p:nvPr/>
        </p:nvSpPr>
        <p:spPr>
          <a:xfrm>
            <a:off x="4813875" y="2083150"/>
            <a:ext cx="15894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800"/>
              <a:buFont typeface="Calibri"/>
              <a:buNone/>
            </a:pPr>
            <a:r>
              <a:rPr b="1" i="0" lang="en-US" sz="1800" u="none" cap="none" strike="noStrike">
                <a:solidFill>
                  <a:schemeClr val="lt1"/>
                </a:solidFill>
                <a:latin typeface="Calibri"/>
                <a:ea typeface="Calibri"/>
                <a:cs typeface="Calibri"/>
                <a:sym typeface="Calibri"/>
              </a:rPr>
              <a:t>Supervised By:</a:t>
            </a:r>
            <a:endParaRPr b="0" i="0" sz="1800" u="none" cap="none" strike="noStrike">
              <a:solidFill>
                <a:schemeClr val="lt1"/>
              </a:solidFill>
              <a:latin typeface="Calibri"/>
              <a:ea typeface="Calibri"/>
              <a:cs typeface="Calibri"/>
              <a:sym typeface="Calibri"/>
            </a:endParaRPr>
          </a:p>
        </p:txBody>
      </p:sp>
      <p:sp>
        <p:nvSpPr>
          <p:cNvPr id="22" name="Google Shape;22;p1"/>
          <p:cNvSpPr/>
          <p:nvPr/>
        </p:nvSpPr>
        <p:spPr>
          <a:xfrm>
            <a:off x="5454450" y="2570675"/>
            <a:ext cx="2505300" cy="731400"/>
          </a:xfrm>
          <a:prstGeom prst="rect">
            <a:avLst/>
          </a:prstGeom>
          <a:noFill/>
          <a:ln>
            <a:noFill/>
          </a:ln>
        </p:spPr>
        <p:txBody>
          <a:bodyPr anchorCtr="0" anchor="ctr" bIns="45700" lIns="91425" spcFirstLastPara="1" rIns="91425" wrap="square" tIns="45700">
            <a:noAutofit/>
          </a:bodyPr>
          <a:lstStyle/>
          <a:p>
            <a:pPr indent="0" lvl="0" marL="457200" marR="0" rtl="0" algn="l">
              <a:spcBef>
                <a:spcPts val="0"/>
              </a:spcBef>
              <a:spcAft>
                <a:spcPts val="0"/>
              </a:spcAft>
              <a:buNone/>
            </a:pPr>
            <a:r>
              <a:rPr b="0" i="0" lang="en-US" sz="1400" u="none" cap="none" strike="noStrike">
                <a:solidFill>
                  <a:schemeClr val="lt1"/>
                </a:solidFill>
                <a:latin typeface="Calibri"/>
                <a:ea typeface="Calibri"/>
                <a:cs typeface="Calibri"/>
                <a:sym typeface="Calibri"/>
              </a:rPr>
              <a:t>Mr. Yuba Raj Devkota</a:t>
            </a:r>
            <a:endParaRPr b="0" i="0" sz="14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27" name="Shape 27"/>
        <p:cNvGrpSpPr/>
        <p:nvPr/>
      </p:nvGrpSpPr>
      <p:grpSpPr>
        <a:xfrm>
          <a:off x="0" y="0"/>
          <a:ext cx="0" cy="0"/>
          <a:chOff x="0" y="0"/>
          <a:chExt cx="0" cy="0"/>
        </a:xfrm>
      </p:grpSpPr>
      <p:sp>
        <p:nvSpPr>
          <p:cNvPr id="28" name="Google Shape;28;p3"/>
          <p:cNvSpPr/>
          <p:nvPr/>
        </p:nvSpPr>
        <p:spPr>
          <a:xfrm>
            <a:off x="0" y="0"/>
            <a:ext cx="914400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457200" y="1371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Introduction</a:t>
            </a:r>
            <a:endParaRPr b="0" i="0" sz="3600" u="none" cap="none" strike="noStrike">
              <a:solidFill>
                <a:schemeClr val="dk1"/>
              </a:solidFill>
              <a:latin typeface="Calibri"/>
              <a:ea typeface="Calibri"/>
              <a:cs typeface="Calibri"/>
              <a:sym typeface="Calibri"/>
            </a:endParaRPr>
          </a:p>
        </p:txBody>
      </p:sp>
      <p:sp>
        <p:nvSpPr>
          <p:cNvPr id="30" name="Google Shape;30;p3"/>
          <p:cNvSpPr/>
          <p:nvPr/>
        </p:nvSpPr>
        <p:spPr>
          <a:xfrm>
            <a:off x="731525" y="1457884"/>
            <a:ext cx="7755300" cy="233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500"/>
              <a:buFont typeface="Calibri"/>
              <a:buNone/>
            </a:pPr>
            <a:r>
              <a:rPr b="1" lang="en-US" sz="1600">
                <a:solidFill>
                  <a:schemeClr val="dk1"/>
                </a:solidFill>
              </a:rPr>
              <a:t>Online Bus Reservation System (OBRS)</a:t>
            </a:r>
            <a:r>
              <a:rPr lang="en-US" sz="1600">
                <a:solidFill>
                  <a:schemeClr val="dk1"/>
                </a:solidFill>
              </a:rPr>
              <a:t> is a web-based platform that allows passengers to search routes, check seat availability, and book bus tickets online in real time, reducing the need for physical reservations and long queues. It also enables administrators to manage buses, users, reservations, and seat allocations efficiently. By digitizing the booking process, the system improves convenience for passengers and operational efficiency for transport companies in Nepal.</a:t>
            </a:r>
            <a:endParaRPr b="0" i="0" sz="1600" u="none" cap="none" strike="noStrike">
              <a:solidFill>
                <a:schemeClr val="dk1"/>
              </a:solidFill>
              <a:latin typeface="Calibri"/>
              <a:ea typeface="Calibri"/>
              <a:cs typeface="Calibri"/>
              <a:sym typeface="Calibri"/>
            </a:endParaRPr>
          </a:p>
        </p:txBody>
      </p:sp>
      <p:sp>
        <p:nvSpPr>
          <p:cNvPr id="31" name="Google Shape;31;p3"/>
          <p:cNvSpPr/>
          <p:nvPr/>
        </p:nvSpPr>
        <p:spPr>
          <a:xfrm>
            <a:off x="457200" y="640063"/>
            <a:ext cx="4346400" cy="960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libri"/>
              <a:buNone/>
            </a:pPr>
            <a:r>
              <a:rPr b="1" i="0" lang="en-US" sz="2400" u="none" cap="none" strike="noStrike">
                <a:solidFill>
                  <a:schemeClr val="dk1"/>
                </a:solidFill>
                <a:latin typeface="Calibri"/>
                <a:ea typeface="Calibri"/>
                <a:cs typeface="Calibri"/>
                <a:sym typeface="Calibri"/>
              </a:rPr>
              <a:t>Online Bus Reservation System</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36" name="Shape 36"/>
        <p:cNvGrpSpPr/>
        <p:nvPr/>
      </p:nvGrpSpPr>
      <p:grpSpPr>
        <a:xfrm>
          <a:off x="0" y="0"/>
          <a:ext cx="0" cy="0"/>
          <a:chOff x="0" y="0"/>
          <a:chExt cx="0" cy="0"/>
        </a:xfrm>
      </p:grpSpPr>
      <p:sp>
        <p:nvSpPr>
          <p:cNvPr id="37" name="Google Shape;37;p4"/>
          <p:cNvSpPr/>
          <p:nvPr/>
        </p:nvSpPr>
        <p:spPr>
          <a:xfrm>
            <a:off x="0" y="0"/>
            <a:ext cx="914400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457200" y="1371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Problem Statement</a:t>
            </a:r>
            <a:endParaRPr b="0" i="0" sz="3600" u="none" cap="none" strike="noStrike">
              <a:solidFill>
                <a:schemeClr val="dk1"/>
              </a:solidFill>
              <a:latin typeface="Calibri"/>
              <a:ea typeface="Calibri"/>
              <a:cs typeface="Calibri"/>
              <a:sym typeface="Calibri"/>
            </a:endParaRPr>
          </a:p>
        </p:txBody>
      </p:sp>
      <p:sp>
        <p:nvSpPr>
          <p:cNvPr id="39" name="Google Shape;39;p4"/>
          <p:cNvSpPr txBox="1"/>
          <p:nvPr/>
        </p:nvSpPr>
        <p:spPr>
          <a:xfrm>
            <a:off x="457200" y="1591875"/>
            <a:ext cx="7568400" cy="19086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US" sz="1600"/>
              <a:t>The traditional bus reservation system in Nepal depends on manual records and ticket counters, which often causes long queues, booking mistakes, and confusion during busy travel seasons like Dashain and Tihar.</a:t>
            </a:r>
            <a:br>
              <a:rPr lang="en-US" sz="1600"/>
            </a:br>
            <a:endParaRPr sz="1600"/>
          </a:p>
          <a:p>
            <a:pPr indent="-330200" lvl="0" marL="457200" rtl="0" algn="l">
              <a:spcBef>
                <a:spcPts val="0"/>
              </a:spcBef>
              <a:spcAft>
                <a:spcPts val="0"/>
              </a:spcAft>
              <a:buSzPts val="1600"/>
              <a:buChar char="●"/>
            </a:pPr>
            <a:r>
              <a:rPr lang="en-US" sz="1600"/>
              <a:t>Many passengers, especially those living far from bus parks, cannot easily check schedules or seat availability, while OBRS allows them to view routes and book tickets online from anywhere.</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44" name="Shape 44"/>
        <p:cNvGrpSpPr/>
        <p:nvPr/>
      </p:nvGrpSpPr>
      <p:grpSpPr>
        <a:xfrm>
          <a:off x="0" y="0"/>
          <a:ext cx="0" cy="0"/>
          <a:chOff x="0" y="0"/>
          <a:chExt cx="0" cy="0"/>
        </a:xfrm>
      </p:grpSpPr>
      <p:sp>
        <p:nvSpPr>
          <p:cNvPr id="45" name="Google Shape;45;p5"/>
          <p:cNvSpPr/>
          <p:nvPr/>
        </p:nvSpPr>
        <p:spPr>
          <a:xfrm>
            <a:off x="0" y="0"/>
            <a:ext cx="914400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457200" y="1371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Project Objectives</a:t>
            </a:r>
            <a:endParaRPr b="0" i="0" sz="3600" u="none" cap="none" strike="noStrike">
              <a:solidFill>
                <a:schemeClr val="dk1"/>
              </a:solidFill>
              <a:latin typeface="Calibri"/>
              <a:ea typeface="Calibri"/>
              <a:cs typeface="Calibri"/>
              <a:sym typeface="Calibri"/>
            </a:endParaRPr>
          </a:p>
        </p:txBody>
      </p:sp>
      <p:sp>
        <p:nvSpPr>
          <p:cNvPr id="47" name="Google Shape;47;p5"/>
          <p:cNvSpPr/>
          <p:nvPr/>
        </p:nvSpPr>
        <p:spPr>
          <a:xfrm>
            <a:off x="731525" y="1645925"/>
            <a:ext cx="7816200" cy="2934600"/>
          </a:xfrm>
          <a:prstGeom prst="rect">
            <a:avLst/>
          </a:prstGeom>
          <a:noFill/>
          <a:ln>
            <a:noFill/>
          </a:ln>
        </p:spPr>
        <p:txBody>
          <a:bodyPr anchorCtr="0" anchor="ctr" bIns="45700" lIns="91425" spcFirstLastPara="1" rIns="91425" wrap="square" tIns="45700">
            <a:noAutofit/>
          </a:bodyPr>
          <a:lstStyle/>
          <a:p>
            <a:pPr indent="-349250" lvl="0" marL="457200" rtl="0" algn="just">
              <a:lnSpc>
                <a:spcPct val="150000"/>
              </a:lnSpc>
              <a:spcBef>
                <a:spcPts val="1200"/>
              </a:spcBef>
              <a:spcAft>
                <a:spcPts val="0"/>
              </a:spcAft>
              <a:buClr>
                <a:srgbClr val="2C3E50"/>
              </a:buClr>
              <a:buSzPts val="1900"/>
              <a:buFont typeface="Calibri"/>
              <a:buChar char="•"/>
            </a:pPr>
            <a:r>
              <a:rPr lang="en-US" sz="1600">
                <a:solidFill>
                  <a:schemeClr val="dk1"/>
                </a:solidFill>
              </a:rPr>
              <a:t>To develop a web application - Online Bus Reservation System utilizing PHP for server-side logic, MySQL for relational database management, HTML/CSS/JavaScript for responsive frontend design, ensuring secure and efficient handling of user interactions and data persistence. </a:t>
            </a:r>
            <a:endParaRPr sz="1600">
              <a:solidFill>
                <a:schemeClr val="dk1"/>
              </a:solidFill>
            </a:endParaRPr>
          </a:p>
          <a:p>
            <a:pPr indent="-349250" lvl="0" marL="457200" rtl="0" algn="just">
              <a:lnSpc>
                <a:spcPct val="150000"/>
              </a:lnSpc>
              <a:spcBef>
                <a:spcPts val="0"/>
              </a:spcBef>
              <a:spcAft>
                <a:spcPts val="0"/>
              </a:spcAft>
              <a:buClr>
                <a:srgbClr val="2C3E50"/>
              </a:buClr>
              <a:buSzPts val="1900"/>
              <a:buFont typeface="Calibri"/>
              <a:buChar char="•"/>
            </a:pPr>
            <a:r>
              <a:rPr lang="en-US" sz="1600">
                <a:solidFill>
                  <a:schemeClr val="dk1"/>
                </a:solidFill>
              </a:rPr>
              <a:t> To enable passengers to register, search and book bus seats, and download e-tickets; while administrators can manage bus routes, monitor bookings, manage users, thereby facilitating end-to-end reservation management.</a:t>
            </a:r>
            <a:endParaRPr sz="1900">
              <a:solidFill>
                <a:srgbClr val="2C3E50"/>
              </a:solidFill>
              <a:latin typeface="Calibri"/>
              <a:ea typeface="Calibri"/>
              <a:cs typeface="Calibri"/>
              <a:sym typeface="Calibri"/>
            </a:endParaRPr>
          </a:p>
        </p:txBody>
      </p:sp>
      <p:sp>
        <p:nvSpPr>
          <p:cNvPr id="48" name="Google Shape;48;p5"/>
          <p:cNvSpPr/>
          <p:nvPr/>
        </p:nvSpPr>
        <p:spPr>
          <a:xfrm>
            <a:off x="731520" y="4023360"/>
            <a:ext cx="7680960" cy="914400"/>
          </a:xfrm>
          <a:prstGeom prst="rect">
            <a:avLst/>
          </a:prstGeom>
          <a:noFill/>
          <a:ln>
            <a:noFill/>
          </a:ln>
        </p:spPr>
        <p:txBody>
          <a:bodyPr anchorCtr="0" anchor="ctr" bIns="45700" lIns="91425" spcFirstLastPara="1" rIns="91425" wrap="square" tIns="45700">
            <a:noAutofit/>
          </a:bodyPr>
          <a:lstStyle/>
          <a:p>
            <a:pPr indent="0" lvl="0" marL="457200" marR="0" rtl="0" algn="l">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53" name="Shape 53"/>
        <p:cNvGrpSpPr/>
        <p:nvPr/>
      </p:nvGrpSpPr>
      <p:grpSpPr>
        <a:xfrm>
          <a:off x="0" y="0"/>
          <a:ext cx="0" cy="0"/>
          <a:chOff x="0" y="0"/>
          <a:chExt cx="0" cy="0"/>
        </a:xfrm>
      </p:grpSpPr>
      <p:sp>
        <p:nvSpPr>
          <p:cNvPr id="54" name="Google Shape;54;p13"/>
          <p:cNvSpPr/>
          <p:nvPr/>
        </p:nvSpPr>
        <p:spPr>
          <a:xfrm>
            <a:off x="0" y="0"/>
            <a:ext cx="914400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p:nvPr/>
        </p:nvSpPr>
        <p:spPr>
          <a:xfrm>
            <a:off x="457200" y="1371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Technology Stack &amp; Tools</a:t>
            </a:r>
            <a:endParaRPr b="0" i="0" sz="3600" u="none" cap="none" strike="noStrike">
              <a:solidFill>
                <a:schemeClr val="dk1"/>
              </a:solidFill>
              <a:latin typeface="Calibri"/>
              <a:ea typeface="Calibri"/>
              <a:cs typeface="Calibri"/>
              <a:sym typeface="Calibri"/>
            </a:endParaRPr>
          </a:p>
        </p:txBody>
      </p:sp>
      <p:sp>
        <p:nvSpPr>
          <p:cNvPr id="56" name="Google Shape;56;p13"/>
          <p:cNvSpPr/>
          <p:nvPr/>
        </p:nvSpPr>
        <p:spPr>
          <a:xfrm>
            <a:off x="731520" y="1097280"/>
            <a:ext cx="2011680" cy="457200"/>
          </a:xfrm>
          <a:prstGeom prst="rect">
            <a:avLst/>
          </a:prstGeom>
          <a:solidFill>
            <a:srgbClr val="00A89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Frontend</a:t>
            </a:r>
            <a:endParaRPr b="0" i="0" sz="1600" u="none" cap="none" strike="noStrike">
              <a:solidFill>
                <a:schemeClr val="dk1"/>
              </a:solidFill>
              <a:latin typeface="Calibri"/>
              <a:ea typeface="Calibri"/>
              <a:cs typeface="Calibri"/>
              <a:sym typeface="Calibri"/>
            </a:endParaRPr>
          </a:p>
        </p:txBody>
      </p:sp>
      <p:sp>
        <p:nvSpPr>
          <p:cNvPr id="57" name="Google Shape;57;p13"/>
          <p:cNvSpPr/>
          <p:nvPr/>
        </p:nvSpPr>
        <p:spPr>
          <a:xfrm>
            <a:off x="2834640" y="1097280"/>
            <a:ext cx="5669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HTML5, CSS3, JavaScript</a:t>
            </a:r>
            <a:endParaRPr b="0" i="0" sz="1600" u="none" cap="none" strike="noStrike">
              <a:solidFill>
                <a:schemeClr val="dk1"/>
              </a:solidFill>
              <a:latin typeface="Calibri"/>
              <a:ea typeface="Calibri"/>
              <a:cs typeface="Calibri"/>
              <a:sym typeface="Calibri"/>
            </a:endParaRPr>
          </a:p>
        </p:txBody>
      </p:sp>
      <p:sp>
        <p:nvSpPr>
          <p:cNvPr id="58" name="Google Shape;58;p13"/>
          <p:cNvSpPr/>
          <p:nvPr/>
        </p:nvSpPr>
        <p:spPr>
          <a:xfrm>
            <a:off x="731520" y="1691640"/>
            <a:ext cx="2011680" cy="457200"/>
          </a:xfrm>
          <a:prstGeom prst="rect">
            <a:avLst/>
          </a:prstGeom>
          <a:solidFill>
            <a:srgbClr val="00A89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Backend</a:t>
            </a:r>
            <a:endParaRPr b="0" i="0" sz="1600" u="none" cap="none" strike="noStrike">
              <a:solidFill>
                <a:schemeClr val="dk1"/>
              </a:solidFill>
              <a:latin typeface="Calibri"/>
              <a:ea typeface="Calibri"/>
              <a:cs typeface="Calibri"/>
              <a:sym typeface="Calibri"/>
            </a:endParaRPr>
          </a:p>
        </p:txBody>
      </p:sp>
      <p:sp>
        <p:nvSpPr>
          <p:cNvPr id="59" name="Google Shape;59;p13"/>
          <p:cNvSpPr/>
          <p:nvPr/>
        </p:nvSpPr>
        <p:spPr>
          <a:xfrm>
            <a:off x="2834640" y="1691640"/>
            <a:ext cx="5669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PHP </a:t>
            </a:r>
            <a:r>
              <a:rPr lang="en-US" sz="1600">
                <a:solidFill>
                  <a:srgbClr val="2C3E50"/>
                </a:solidFill>
                <a:latin typeface="Calibri"/>
                <a:ea typeface="Calibri"/>
                <a:cs typeface="Calibri"/>
                <a:sym typeface="Calibri"/>
              </a:rPr>
              <a:t> 8.4.16 </a:t>
            </a:r>
            <a:endParaRPr b="0" i="0" sz="1600" u="none" cap="none" strike="noStrike">
              <a:solidFill>
                <a:schemeClr val="dk1"/>
              </a:solidFill>
              <a:latin typeface="Calibri"/>
              <a:ea typeface="Calibri"/>
              <a:cs typeface="Calibri"/>
              <a:sym typeface="Calibri"/>
            </a:endParaRPr>
          </a:p>
        </p:txBody>
      </p:sp>
      <p:sp>
        <p:nvSpPr>
          <p:cNvPr id="60" name="Google Shape;60;p13"/>
          <p:cNvSpPr/>
          <p:nvPr/>
        </p:nvSpPr>
        <p:spPr>
          <a:xfrm>
            <a:off x="731520" y="2286000"/>
            <a:ext cx="2011680" cy="457200"/>
          </a:xfrm>
          <a:prstGeom prst="rect">
            <a:avLst/>
          </a:prstGeom>
          <a:solidFill>
            <a:srgbClr val="00A89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Database</a:t>
            </a:r>
            <a:endParaRPr b="0" i="0" sz="1600" u="none" cap="none" strike="noStrike">
              <a:solidFill>
                <a:schemeClr val="dk1"/>
              </a:solidFill>
              <a:latin typeface="Calibri"/>
              <a:ea typeface="Calibri"/>
              <a:cs typeface="Calibri"/>
              <a:sym typeface="Calibri"/>
            </a:endParaRPr>
          </a:p>
        </p:txBody>
      </p:sp>
      <p:sp>
        <p:nvSpPr>
          <p:cNvPr id="61" name="Google Shape;61;p13"/>
          <p:cNvSpPr/>
          <p:nvPr/>
        </p:nvSpPr>
        <p:spPr>
          <a:xfrm>
            <a:off x="2834640" y="2286000"/>
            <a:ext cx="5669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MySQL 5.7+</a:t>
            </a:r>
            <a:endParaRPr b="0" i="0" sz="1600" u="none" cap="none" strike="noStrike">
              <a:solidFill>
                <a:schemeClr val="dk1"/>
              </a:solidFill>
              <a:latin typeface="Calibri"/>
              <a:ea typeface="Calibri"/>
              <a:cs typeface="Calibri"/>
              <a:sym typeface="Calibri"/>
            </a:endParaRPr>
          </a:p>
        </p:txBody>
      </p:sp>
      <p:sp>
        <p:nvSpPr>
          <p:cNvPr id="62" name="Google Shape;62;p13"/>
          <p:cNvSpPr/>
          <p:nvPr/>
        </p:nvSpPr>
        <p:spPr>
          <a:xfrm>
            <a:off x="731520" y="2880360"/>
            <a:ext cx="2011680" cy="457200"/>
          </a:xfrm>
          <a:prstGeom prst="rect">
            <a:avLst/>
          </a:prstGeom>
          <a:solidFill>
            <a:srgbClr val="00A89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Server</a:t>
            </a:r>
            <a:endParaRPr b="0" i="0" sz="1600" u="none" cap="none" strike="noStrike">
              <a:solidFill>
                <a:schemeClr val="dk1"/>
              </a:solidFill>
              <a:latin typeface="Calibri"/>
              <a:ea typeface="Calibri"/>
              <a:cs typeface="Calibri"/>
              <a:sym typeface="Calibri"/>
            </a:endParaRPr>
          </a:p>
        </p:txBody>
      </p:sp>
      <p:sp>
        <p:nvSpPr>
          <p:cNvPr id="63" name="Google Shape;63;p13"/>
          <p:cNvSpPr/>
          <p:nvPr/>
        </p:nvSpPr>
        <p:spPr>
          <a:xfrm>
            <a:off x="2834640" y="2880360"/>
            <a:ext cx="5669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Apache (via XAMPP)</a:t>
            </a:r>
            <a:endParaRPr b="0" i="0" sz="1600" u="none" cap="none" strike="noStrike">
              <a:solidFill>
                <a:schemeClr val="dk1"/>
              </a:solidFill>
              <a:latin typeface="Calibri"/>
              <a:ea typeface="Calibri"/>
              <a:cs typeface="Calibri"/>
              <a:sym typeface="Calibri"/>
            </a:endParaRPr>
          </a:p>
        </p:txBody>
      </p:sp>
      <p:sp>
        <p:nvSpPr>
          <p:cNvPr id="64" name="Google Shape;64;p13"/>
          <p:cNvSpPr/>
          <p:nvPr/>
        </p:nvSpPr>
        <p:spPr>
          <a:xfrm>
            <a:off x="731520" y="3474720"/>
            <a:ext cx="2011680" cy="457200"/>
          </a:xfrm>
          <a:prstGeom prst="rect">
            <a:avLst/>
          </a:prstGeom>
          <a:solidFill>
            <a:srgbClr val="00A89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Development</a:t>
            </a:r>
            <a:endParaRPr b="0" i="0" sz="1600" u="none" cap="none" strike="noStrike">
              <a:solidFill>
                <a:schemeClr val="dk1"/>
              </a:solidFill>
              <a:latin typeface="Calibri"/>
              <a:ea typeface="Calibri"/>
              <a:cs typeface="Calibri"/>
              <a:sym typeface="Calibri"/>
            </a:endParaRPr>
          </a:p>
        </p:txBody>
      </p:sp>
      <p:sp>
        <p:nvSpPr>
          <p:cNvPr id="65" name="Google Shape;65;p13"/>
          <p:cNvSpPr/>
          <p:nvPr/>
        </p:nvSpPr>
        <p:spPr>
          <a:xfrm>
            <a:off x="2834640" y="3474720"/>
            <a:ext cx="5669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VS Code, Figma, phpMyAdmin, Git</a:t>
            </a:r>
            <a:endParaRPr b="0" i="0" sz="1600" u="none" cap="none" strike="noStrike">
              <a:solidFill>
                <a:schemeClr val="dk1"/>
              </a:solidFill>
              <a:latin typeface="Calibri"/>
              <a:ea typeface="Calibri"/>
              <a:cs typeface="Calibri"/>
              <a:sym typeface="Calibri"/>
            </a:endParaRPr>
          </a:p>
        </p:txBody>
      </p:sp>
      <p:sp>
        <p:nvSpPr>
          <p:cNvPr id="66" name="Google Shape;66;p13"/>
          <p:cNvSpPr/>
          <p:nvPr/>
        </p:nvSpPr>
        <p:spPr>
          <a:xfrm>
            <a:off x="731520" y="4069080"/>
            <a:ext cx="2011680" cy="457200"/>
          </a:xfrm>
          <a:prstGeom prst="rect">
            <a:avLst/>
          </a:prstGeom>
          <a:solidFill>
            <a:srgbClr val="00A89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600" u="none" cap="none" strike="noStrike">
                <a:solidFill>
                  <a:srgbClr val="FFFFFF"/>
                </a:solidFill>
                <a:latin typeface="Calibri"/>
                <a:ea typeface="Calibri"/>
                <a:cs typeface="Calibri"/>
                <a:sym typeface="Calibri"/>
              </a:rPr>
              <a:t>Methodology</a:t>
            </a:r>
            <a:endParaRPr b="0" i="0" sz="1600" u="none" cap="none" strike="noStrike">
              <a:solidFill>
                <a:schemeClr val="dk1"/>
              </a:solidFill>
              <a:latin typeface="Calibri"/>
              <a:ea typeface="Calibri"/>
              <a:cs typeface="Calibri"/>
              <a:sym typeface="Calibri"/>
            </a:endParaRPr>
          </a:p>
        </p:txBody>
      </p:sp>
      <p:sp>
        <p:nvSpPr>
          <p:cNvPr id="67" name="Google Shape;67;p13"/>
          <p:cNvSpPr/>
          <p:nvPr/>
        </p:nvSpPr>
        <p:spPr>
          <a:xfrm>
            <a:off x="2834640" y="4069080"/>
            <a:ext cx="56692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lang="en-US" sz="1600">
                <a:solidFill>
                  <a:srgbClr val="2C3E50"/>
                </a:solidFill>
                <a:latin typeface="Calibri"/>
                <a:ea typeface="Calibri"/>
                <a:cs typeface="Calibri"/>
                <a:sym typeface="Calibri"/>
              </a:rPr>
              <a:t>Traditional </a:t>
            </a:r>
            <a:r>
              <a:rPr b="0" i="0" lang="en-US" sz="1600" u="none" cap="none" strike="noStrike">
                <a:solidFill>
                  <a:srgbClr val="2C3E50"/>
                </a:solidFill>
                <a:latin typeface="Calibri"/>
                <a:ea typeface="Calibri"/>
                <a:cs typeface="Calibri"/>
                <a:sym typeface="Calibri"/>
              </a:rPr>
              <a:t>Waterfall Model</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72" name="Shape 72"/>
        <p:cNvGrpSpPr/>
        <p:nvPr/>
      </p:nvGrpSpPr>
      <p:grpSpPr>
        <a:xfrm>
          <a:off x="0" y="0"/>
          <a:ext cx="0" cy="0"/>
          <a:chOff x="0" y="0"/>
          <a:chExt cx="0" cy="0"/>
        </a:xfrm>
      </p:grpSpPr>
      <p:sp>
        <p:nvSpPr>
          <p:cNvPr id="73" name="Google Shape;73;p6"/>
          <p:cNvSpPr/>
          <p:nvPr/>
        </p:nvSpPr>
        <p:spPr>
          <a:xfrm>
            <a:off x="0" y="0"/>
            <a:ext cx="914400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457200" y="1371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Three-Tier Architecture</a:t>
            </a:r>
            <a:endParaRPr b="0" i="0" sz="3600" u="none" cap="none" strike="noStrike">
              <a:solidFill>
                <a:schemeClr val="dk1"/>
              </a:solidFill>
              <a:latin typeface="Calibri"/>
              <a:ea typeface="Calibri"/>
              <a:cs typeface="Calibri"/>
              <a:sym typeface="Calibri"/>
            </a:endParaRPr>
          </a:p>
        </p:txBody>
      </p:sp>
      <p:sp>
        <p:nvSpPr>
          <p:cNvPr id="75" name="Google Shape;75;p6"/>
          <p:cNvSpPr/>
          <p:nvPr/>
        </p:nvSpPr>
        <p:spPr>
          <a:xfrm>
            <a:off x="731520" y="1188720"/>
            <a:ext cx="2286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600" u="none" cap="none" strike="noStrike">
                <a:solidFill>
                  <a:schemeClr val="dk1"/>
                </a:solidFill>
                <a:latin typeface="Calibri"/>
                <a:ea typeface="Calibri"/>
                <a:cs typeface="Calibri"/>
                <a:sym typeface="Calibri"/>
              </a:rPr>
              <a:t>Presentation Layer</a:t>
            </a:r>
            <a:endParaRPr b="0" i="0" sz="1600" u="none" cap="none" strike="noStrike">
              <a:solidFill>
                <a:schemeClr val="dk1"/>
              </a:solidFill>
              <a:latin typeface="Calibri"/>
              <a:ea typeface="Calibri"/>
              <a:cs typeface="Calibri"/>
              <a:sym typeface="Calibri"/>
            </a:endParaRPr>
          </a:p>
        </p:txBody>
      </p:sp>
      <p:sp>
        <p:nvSpPr>
          <p:cNvPr id="76" name="Google Shape;76;p6"/>
          <p:cNvSpPr/>
          <p:nvPr/>
        </p:nvSpPr>
        <p:spPr>
          <a:xfrm>
            <a:off x="731520" y="1645920"/>
            <a:ext cx="228600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HTML, CSS, JavaScript</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Responsive UI Design</a:t>
            </a:r>
            <a:endParaRPr b="0" i="0" sz="1600" u="none" cap="none" strike="noStrike">
              <a:solidFill>
                <a:schemeClr val="dk1"/>
              </a:solidFill>
              <a:latin typeface="Calibri"/>
              <a:ea typeface="Calibri"/>
              <a:cs typeface="Calibri"/>
              <a:sym typeface="Calibri"/>
            </a:endParaRPr>
          </a:p>
        </p:txBody>
      </p:sp>
      <p:sp>
        <p:nvSpPr>
          <p:cNvPr id="77" name="Google Shape;77;p6"/>
          <p:cNvSpPr/>
          <p:nvPr/>
        </p:nvSpPr>
        <p:spPr>
          <a:xfrm>
            <a:off x="3429000" y="1188720"/>
            <a:ext cx="2286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600" u="none" cap="none" strike="noStrike">
                <a:solidFill>
                  <a:schemeClr val="dk1"/>
                </a:solidFill>
                <a:latin typeface="Calibri"/>
                <a:ea typeface="Calibri"/>
                <a:cs typeface="Calibri"/>
                <a:sym typeface="Calibri"/>
              </a:rPr>
              <a:t>Business Logic Layer</a:t>
            </a:r>
            <a:endParaRPr b="0" i="0" sz="1600" u="none" cap="none" strike="noStrike">
              <a:solidFill>
                <a:schemeClr val="dk1"/>
              </a:solidFill>
              <a:latin typeface="Calibri"/>
              <a:ea typeface="Calibri"/>
              <a:cs typeface="Calibri"/>
              <a:sym typeface="Calibri"/>
            </a:endParaRPr>
          </a:p>
        </p:txBody>
      </p:sp>
      <p:sp>
        <p:nvSpPr>
          <p:cNvPr id="78" name="Google Shape;78;p6"/>
          <p:cNvSpPr/>
          <p:nvPr/>
        </p:nvSpPr>
        <p:spPr>
          <a:xfrm>
            <a:off x="3429000" y="1645920"/>
            <a:ext cx="228600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PHP Scripts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Data Validation</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CRUD Operations</a:t>
            </a:r>
            <a:endParaRPr b="0" i="0" sz="1600" u="none" cap="none" strike="noStrike">
              <a:solidFill>
                <a:schemeClr val="dk1"/>
              </a:solidFill>
              <a:latin typeface="Calibri"/>
              <a:ea typeface="Calibri"/>
              <a:cs typeface="Calibri"/>
              <a:sym typeface="Calibri"/>
            </a:endParaRPr>
          </a:p>
        </p:txBody>
      </p:sp>
      <p:sp>
        <p:nvSpPr>
          <p:cNvPr id="79" name="Google Shape;79;p6"/>
          <p:cNvSpPr/>
          <p:nvPr/>
        </p:nvSpPr>
        <p:spPr>
          <a:xfrm>
            <a:off x="6126480" y="1188720"/>
            <a:ext cx="2286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00"/>
              <a:buFont typeface="Calibri"/>
              <a:buNone/>
            </a:pPr>
            <a:r>
              <a:rPr b="1" i="0" lang="en-US" sz="1600" u="none" cap="none" strike="noStrike">
                <a:solidFill>
                  <a:schemeClr val="dk1"/>
                </a:solidFill>
                <a:latin typeface="Calibri"/>
                <a:ea typeface="Calibri"/>
                <a:cs typeface="Calibri"/>
                <a:sym typeface="Calibri"/>
              </a:rPr>
              <a:t>Data Layer</a:t>
            </a:r>
            <a:endParaRPr b="0" i="0" sz="1600" u="none" cap="none" strike="noStrike">
              <a:solidFill>
                <a:schemeClr val="dk1"/>
              </a:solidFill>
              <a:latin typeface="Calibri"/>
              <a:ea typeface="Calibri"/>
              <a:cs typeface="Calibri"/>
              <a:sym typeface="Calibri"/>
            </a:endParaRPr>
          </a:p>
        </p:txBody>
      </p:sp>
      <p:sp>
        <p:nvSpPr>
          <p:cNvPr id="80" name="Google Shape;80;p6"/>
          <p:cNvSpPr/>
          <p:nvPr/>
        </p:nvSpPr>
        <p:spPr>
          <a:xfrm>
            <a:off x="6126480" y="1645920"/>
            <a:ext cx="228600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MySQL Database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Data Persistence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C3E50"/>
              </a:buClr>
              <a:buSzPts val="1200"/>
              <a:buFont typeface="Calibri"/>
              <a:buNone/>
            </a:pPr>
            <a:r>
              <a:rPr b="0" i="0" lang="en-US" sz="1600" u="none" cap="none" strike="noStrike">
                <a:solidFill>
                  <a:srgbClr val="2C3E50"/>
                </a:solidFill>
                <a:latin typeface="Calibri"/>
                <a:ea typeface="Calibri"/>
                <a:cs typeface="Calibri"/>
                <a:sym typeface="Calibri"/>
              </a:rPr>
              <a:t>Data Integrity</a:t>
            </a:r>
            <a:endParaRPr b="0" i="0" sz="1600" u="none" cap="none" strike="noStrike">
              <a:solidFill>
                <a:schemeClr val="dk1"/>
              </a:solidFill>
              <a:latin typeface="Calibri"/>
              <a:ea typeface="Calibri"/>
              <a:cs typeface="Calibri"/>
              <a:sym typeface="Calibri"/>
            </a:endParaRPr>
          </a:p>
        </p:txBody>
      </p:sp>
      <p:cxnSp>
        <p:nvCxnSpPr>
          <p:cNvPr id="81" name="Google Shape;81;p6"/>
          <p:cNvCxnSpPr/>
          <p:nvPr/>
        </p:nvCxnSpPr>
        <p:spPr>
          <a:xfrm>
            <a:off x="3108960" y="2194560"/>
            <a:ext cx="274320" cy="0"/>
          </a:xfrm>
          <a:prstGeom prst="straightConnector1">
            <a:avLst/>
          </a:prstGeom>
          <a:noFill/>
          <a:ln cap="flat" cmpd="sng" w="25400">
            <a:solidFill>
              <a:srgbClr val="028090"/>
            </a:solidFill>
            <a:prstDash val="solid"/>
            <a:round/>
            <a:headEnd len="sm" w="sm" type="none"/>
            <a:tailEnd len="sm" w="sm" type="none"/>
          </a:ln>
        </p:spPr>
      </p:cxnSp>
      <p:cxnSp>
        <p:nvCxnSpPr>
          <p:cNvPr id="82" name="Google Shape;82;p6"/>
          <p:cNvCxnSpPr/>
          <p:nvPr/>
        </p:nvCxnSpPr>
        <p:spPr>
          <a:xfrm>
            <a:off x="5760720" y="2194560"/>
            <a:ext cx="274320" cy="0"/>
          </a:xfrm>
          <a:prstGeom prst="straightConnector1">
            <a:avLst/>
          </a:prstGeom>
          <a:noFill/>
          <a:ln cap="flat" cmpd="sng" w="25400">
            <a:solidFill>
              <a:srgbClr val="028090"/>
            </a:solidFill>
            <a:prstDash val="solid"/>
            <a:round/>
            <a:headEnd len="sm" w="sm" type="none"/>
            <a:tailEnd len="sm" w="sm" type="none"/>
          </a:ln>
        </p:spPr>
      </p:cxnSp>
      <p:sp>
        <p:nvSpPr>
          <p:cNvPr id="83" name="Google Shape;83;p6"/>
          <p:cNvSpPr/>
          <p:nvPr/>
        </p:nvSpPr>
        <p:spPr>
          <a:xfrm>
            <a:off x="731520" y="3200400"/>
            <a:ext cx="7680960" cy="137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300"/>
              <a:buFont typeface="Calibri"/>
              <a:buNone/>
            </a:pPr>
            <a:r>
              <a:rPr b="0" i="1" lang="en-US" sz="1600" u="none" cap="none" strike="noStrike">
                <a:solidFill>
                  <a:srgbClr val="2C3E50"/>
                </a:solidFill>
                <a:latin typeface="Calibri"/>
                <a:ea typeface="Calibri"/>
                <a:cs typeface="Calibri"/>
                <a:sym typeface="Calibri"/>
              </a:rPr>
              <a:t>System workflows with data flow from client through business logic to persistent database storage.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88" name="Shape 88"/>
        <p:cNvGrpSpPr/>
        <p:nvPr/>
      </p:nvGrpSpPr>
      <p:grpSpPr>
        <a:xfrm>
          <a:off x="0" y="0"/>
          <a:ext cx="0" cy="0"/>
          <a:chOff x="0" y="0"/>
          <a:chExt cx="0" cy="0"/>
        </a:xfrm>
      </p:grpSpPr>
      <p:sp>
        <p:nvSpPr>
          <p:cNvPr id="89" name="Google Shape;89;g3c5a05a22c8_0_8"/>
          <p:cNvSpPr/>
          <p:nvPr/>
        </p:nvSpPr>
        <p:spPr>
          <a:xfrm>
            <a:off x="0" y="0"/>
            <a:ext cx="9144000" cy="64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g3c5a05a22c8_0_8"/>
          <p:cNvSpPr/>
          <p:nvPr/>
        </p:nvSpPr>
        <p:spPr>
          <a:xfrm>
            <a:off x="457200" y="13716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2400" u="none" cap="none" strike="noStrike">
                <a:solidFill>
                  <a:srgbClr val="FFFFFF"/>
                </a:solidFill>
                <a:latin typeface="Calibri"/>
                <a:ea typeface="Calibri"/>
                <a:cs typeface="Calibri"/>
                <a:sym typeface="Calibri"/>
              </a:rPr>
              <a:t>ER</a:t>
            </a:r>
            <a:r>
              <a:rPr b="1" lang="en-US" sz="2400">
                <a:solidFill>
                  <a:srgbClr val="FFFFFF"/>
                </a:solidFill>
                <a:latin typeface="Calibri"/>
                <a:ea typeface="Calibri"/>
                <a:cs typeface="Calibri"/>
                <a:sym typeface="Calibri"/>
              </a:rPr>
              <a:t> Diagram of Online Bus Reservation System</a:t>
            </a:r>
            <a:endParaRPr b="1" i="0" sz="2400" u="none" cap="none" strike="noStrike">
              <a:solidFill>
                <a:schemeClr val="dk1"/>
              </a:solidFill>
              <a:latin typeface="Calibri"/>
              <a:ea typeface="Calibri"/>
              <a:cs typeface="Calibri"/>
              <a:sym typeface="Calibri"/>
            </a:endParaRPr>
          </a:p>
        </p:txBody>
      </p:sp>
      <p:pic>
        <p:nvPicPr>
          <p:cNvPr id="91" name="Google Shape;91;g3c5a05a22c8_0_8"/>
          <p:cNvPicPr preferRelativeResize="0"/>
          <p:nvPr/>
        </p:nvPicPr>
        <p:blipFill>
          <a:blip r:embed="rId3">
            <a:alphaModFix/>
          </a:blip>
          <a:stretch>
            <a:fillRect/>
          </a:stretch>
        </p:blipFill>
        <p:spPr>
          <a:xfrm>
            <a:off x="2257975" y="761525"/>
            <a:ext cx="5559012" cy="4198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96" name="Shape 96"/>
        <p:cNvGrpSpPr/>
        <p:nvPr/>
      </p:nvGrpSpPr>
      <p:grpSpPr>
        <a:xfrm>
          <a:off x="0" y="0"/>
          <a:ext cx="0" cy="0"/>
          <a:chOff x="0" y="0"/>
          <a:chExt cx="0" cy="0"/>
        </a:xfrm>
      </p:grpSpPr>
      <p:sp>
        <p:nvSpPr>
          <p:cNvPr id="97" name="Google Shape;97;p8"/>
          <p:cNvSpPr/>
          <p:nvPr/>
        </p:nvSpPr>
        <p:spPr>
          <a:xfrm>
            <a:off x="0" y="0"/>
            <a:ext cx="914400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457200" y="1371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Database Structure (ER Model)</a:t>
            </a:r>
            <a:endParaRPr b="0" i="0" sz="3600" u="none" cap="none" strike="noStrike">
              <a:solidFill>
                <a:schemeClr val="dk1"/>
              </a:solidFill>
              <a:latin typeface="Calibri"/>
              <a:ea typeface="Calibri"/>
              <a:cs typeface="Calibri"/>
              <a:sym typeface="Calibri"/>
            </a:endParaRPr>
          </a:p>
        </p:txBody>
      </p:sp>
      <p:sp>
        <p:nvSpPr>
          <p:cNvPr id="99" name="Google Shape;99;p8"/>
          <p:cNvSpPr/>
          <p:nvPr/>
        </p:nvSpPr>
        <p:spPr>
          <a:xfrm>
            <a:off x="731520" y="109728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600"/>
              <a:buFont typeface="Calibri"/>
              <a:buNone/>
            </a:pPr>
            <a:r>
              <a:rPr b="1" i="0" lang="en-US" sz="1600" u="none" cap="none" strike="noStrike">
                <a:solidFill>
                  <a:srgbClr val="028090"/>
                </a:solidFill>
                <a:latin typeface="Calibri"/>
                <a:ea typeface="Calibri"/>
                <a:cs typeface="Calibri"/>
                <a:sym typeface="Calibri"/>
              </a:rPr>
              <a:t>Core Entities:</a:t>
            </a:r>
            <a:endParaRPr b="0" i="0" sz="1600" u="none" cap="none" strike="noStrike">
              <a:solidFill>
                <a:schemeClr val="dk1"/>
              </a:solidFill>
              <a:latin typeface="Calibri"/>
              <a:ea typeface="Calibri"/>
              <a:cs typeface="Calibri"/>
              <a:sym typeface="Calibri"/>
            </a:endParaRPr>
          </a:p>
        </p:txBody>
      </p:sp>
      <p:sp>
        <p:nvSpPr>
          <p:cNvPr id="100" name="Google Shape;100;p8"/>
          <p:cNvSpPr/>
          <p:nvPr/>
        </p:nvSpPr>
        <p:spPr>
          <a:xfrm>
            <a:off x="731520" y="1645920"/>
            <a:ext cx="7680960" cy="1005840"/>
          </a:xfrm>
          <a:prstGeom prst="rect">
            <a:avLst/>
          </a:prstGeom>
          <a:noFill/>
          <a:ln>
            <a:noFill/>
          </a:ln>
        </p:spPr>
        <p:txBody>
          <a:bodyPr anchorCtr="0" anchor="ctr" bIns="45700" lIns="91425" spcFirstLastPara="1" rIns="91425" wrap="square" tIns="45700">
            <a:noAutofit/>
          </a:bodyPr>
          <a:lstStyle/>
          <a:p>
            <a:pPr indent="-355600" lvl="0" marL="342900" marR="0" rtl="0" algn="l">
              <a:spcBef>
                <a:spcPts val="0"/>
              </a:spcBef>
              <a:spcAft>
                <a:spcPts val="0"/>
              </a:spcAft>
              <a:buClr>
                <a:srgbClr val="2C3E50"/>
              </a:buClr>
              <a:buSzPts val="1600"/>
              <a:buFont typeface="Calibri"/>
              <a:buChar char="•"/>
            </a:pPr>
            <a:r>
              <a:rPr b="0" i="0" lang="en-US" sz="1600" u="none" cap="none" strike="noStrike">
                <a:solidFill>
                  <a:srgbClr val="2C3E50"/>
                </a:solidFill>
                <a:latin typeface="Calibri"/>
                <a:ea typeface="Calibri"/>
                <a:cs typeface="Calibri"/>
                <a:sym typeface="Calibri"/>
              </a:rPr>
              <a:t>Users Table: Stores passenger and admin credentials, roles, contact information</a:t>
            </a:r>
            <a:endParaRPr b="0" i="0" sz="16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2C3E50"/>
              </a:buClr>
              <a:buSzPts val="1600"/>
              <a:buFont typeface="Calibri"/>
              <a:buChar char="•"/>
            </a:pPr>
            <a:r>
              <a:rPr b="0" i="0" lang="en-US" sz="1600" u="none" cap="none" strike="noStrike">
                <a:solidFill>
                  <a:srgbClr val="2C3E50"/>
                </a:solidFill>
                <a:latin typeface="Calibri"/>
                <a:ea typeface="Calibri"/>
                <a:cs typeface="Calibri"/>
                <a:sym typeface="Calibri"/>
              </a:rPr>
              <a:t>Buses Table: Contains bus details, routes, schedules, capacity, and fare information</a:t>
            </a:r>
            <a:endParaRPr b="0" i="0" sz="16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2C3E50"/>
              </a:buClr>
              <a:buSzPts val="1600"/>
              <a:buFont typeface="Calibri"/>
              <a:buChar char="•"/>
            </a:pPr>
            <a:r>
              <a:rPr b="0" i="0" lang="en-US" sz="1600" u="none" cap="none" strike="noStrike">
                <a:solidFill>
                  <a:srgbClr val="2C3E50"/>
                </a:solidFill>
                <a:latin typeface="Calibri"/>
                <a:ea typeface="Calibri"/>
                <a:cs typeface="Calibri"/>
                <a:sym typeface="Calibri"/>
              </a:rPr>
              <a:t>Reservations Table: Tracks bookings, seat assignments, passenger details, and payment status</a:t>
            </a:r>
            <a:endParaRPr b="0" i="0" sz="1600" u="none" cap="none" strike="noStrike">
              <a:solidFill>
                <a:schemeClr val="dk1"/>
              </a:solidFill>
              <a:latin typeface="Calibri"/>
              <a:ea typeface="Calibri"/>
              <a:cs typeface="Calibri"/>
              <a:sym typeface="Calibri"/>
            </a:endParaRPr>
          </a:p>
        </p:txBody>
      </p:sp>
      <p:sp>
        <p:nvSpPr>
          <p:cNvPr id="101" name="Google Shape;101;p8"/>
          <p:cNvSpPr/>
          <p:nvPr/>
        </p:nvSpPr>
        <p:spPr>
          <a:xfrm>
            <a:off x="731520" y="2834640"/>
            <a:ext cx="7680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600"/>
              <a:buFont typeface="Calibri"/>
              <a:buNone/>
            </a:pPr>
            <a:r>
              <a:rPr b="1" i="0" lang="en-US" sz="1600" u="none" cap="none" strike="noStrike">
                <a:solidFill>
                  <a:srgbClr val="028090"/>
                </a:solidFill>
                <a:latin typeface="Calibri"/>
                <a:ea typeface="Calibri"/>
                <a:cs typeface="Calibri"/>
                <a:sym typeface="Calibri"/>
              </a:rPr>
              <a:t>Relationships:</a:t>
            </a:r>
            <a:endParaRPr b="0" i="0" sz="1600" u="none" cap="none" strike="noStrike">
              <a:solidFill>
                <a:schemeClr val="dk1"/>
              </a:solidFill>
              <a:latin typeface="Calibri"/>
              <a:ea typeface="Calibri"/>
              <a:cs typeface="Calibri"/>
              <a:sym typeface="Calibri"/>
            </a:endParaRPr>
          </a:p>
        </p:txBody>
      </p:sp>
      <p:sp>
        <p:nvSpPr>
          <p:cNvPr id="102" name="Google Shape;102;p8"/>
          <p:cNvSpPr/>
          <p:nvPr/>
        </p:nvSpPr>
        <p:spPr>
          <a:xfrm>
            <a:off x="731520" y="3383280"/>
            <a:ext cx="7680960" cy="1463040"/>
          </a:xfrm>
          <a:prstGeom prst="rect">
            <a:avLst/>
          </a:prstGeom>
          <a:noFill/>
          <a:ln>
            <a:noFill/>
          </a:ln>
        </p:spPr>
        <p:txBody>
          <a:bodyPr anchorCtr="0" anchor="ctr" bIns="45700" lIns="91425" spcFirstLastPara="1" rIns="91425" wrap="square" tIns="45700">
            <a:noAutofit/>
          </a:bodyPr>
          <a:lstStyle/>
          <a:p>
            <a:pPr indent="-355600" lvl="0" marL="342900" marR="0" rtl="0" algn="l">
              <a:spcBef>
                <a:spcPts val="0"/>
              </a:spcBef>
              <a:spcAft>
                <a:spcPts val="0"/>
              </a:spcAft>
              <a:buClr>
                <a:srgbClr val="2C3E50"/>
              </a:buClr>
              <a:buSzPts val="1600"/>
              <a:buFont typeface="Calibri"/>
              <a:buChar char="•"/>
            </a:pPr>
            <a:r>
              <a:rPr b="0" i="0" lang="en-US" sz="1600" u="none" cap="none" strike="noStrike">
                <a:solidFill>
                  <a:srgbClr val="2C3E50"/>
                </a:solidFill>
                <a:latin typeface="Calibri"/>
                <a:ea typeface="Calibri"/>
                <a:cs typeface="Calibri"/>
                <a:sym typeface="Calibri"/>
              </a:rPr>
              <a:t>Users ← → Reservations (One-to-Many: A user can make multiple reservations)</a:t>
            </a:r>
            <a:endParaRPr b="0" i="0" sz="16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2C3E50"/>
              </a:buClr>
              <a:buSzPts val="1600"/>
              <a:buFont typeface="Calibri"/>
              <a:buChar char="•"/>
            </a:pPr>
            <a:r>
              <a:rPr b="0" i="0" lang="en-US" sz="1600" u="none" cap="none" strike="noStrike">
                <a:solidFill>
                  <a:srgbClr val="2C3E50"/>
                </a:solidFill>
                <a:latin typeface="Calibri"/>
                <a:ea typeface="Calibri"/>
                <a:cs typeface="Calibri"/>
                <a:sym typeface="Calibri"/>
              </a:rPr>
              <a:t>Buses ← → Reservations (One-to-Many: A bus has multiple seat reservations)</a:t>
            </a:r>
            <a:endParaRPr b="0" i="0" sz="1600" u="none" cap="none" strike="noStrike">
              <a:solidFill>
                <a:schemeClr val="dk1"/>
              </a:solidFill>
              <a:latin typeface="Calibri"/>
              <a:ea typeface="Calibri"/>
              <a:cs typeface="Calibri"/>
              <a:sym typeface="Calibri"/>
            </a:endParaRPr>
          </a:p>
          <a:p>
            <a:pPr indent="-355600" lvl="0" marL="342900" marR="0" rtl="0" algn="l">
              <a:spcBef>
                <a:spcPts val="0"/>
              </a:spcBef>
              <a:spcAft>
                <a:spcPts val="0"/>
              </a:spcAft>
              <a:buClr>
                <a:srgbClr val="2C3E50"/>
              </a:buClr>
              <a:buSzPts val="1600"/>
              <a:buFont typeface="Calibri"/>
              <a:buChar char="•"/>
            </a:pPr>
            <a:r>
              <a:rPr b="0" i="0" lang="en-US" sz="1600" u="none" cap="none" strike="noStrike">
                <a:solidFill>
                  <a:srgbClr val="2C3E50"/>
                </a:solidFill>
                <a:latin typeface="Calibri"/>
                <a:ea typeface="Calibri"/>
                <a:cs typeface="Calibri"/>
                <a:sym typeface="Calibri"/>
              </a:rPr>
              <a:t>Data integrity maintained through primary and foreign key constraints</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107" name="Shape 107"/>
        <p:cNvGrpSpPr/>
        <p:nvPr/>
      </p:nvGrpSpPr>
      <p:grpSpPr>
        <a:xfrm>
          <a:off x="0" y="0"/>
          <a:ext cx="0" cy="0"/>
          <a:chOff x="0" y="0"/>
          <a:chExt cx="0" cy="0"/>
        </a:xfrm>
      </p:grpSpPr>
      <p:sp>
        <p:nvSpPr>
          <p:cNvPr id="108" name="Google Shape;108;p11"/>
          <p:cNvSpPr/>
          <p:nvPr/>
        </p:nvSpPr>
        <p:spPr>
          <a:xfrm>
            <a:off x="0" y="0"/>
            <a:ext cx="914400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a:off x="457200" y="1371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User Reservation Process</a:t>
            </a:r>
            <a:endParaRPr b="0" i="0" sz="3600" u="none" cap="none" strike="noStrike">
              <a:solidFill>
                <a:schemeClr val="dk1"/>
              </a:solidFill>
              <a:latin typeface="Calibri"/>
              <a:ea typeface="Calibri"/>
              <a:cs typeface="Calibri"/>
              <a:sym typeface="Calibri"/>
            </a:endParaRPr>
          </a:p>
        </p:txBody>
      </p:sp>
      <p:sp>
        <p:nvSpPr>
          <p:cNvPr id="110" name="Google Shape;110;p11"/>
          <p:cNvSpPr/>
          <p:nvPr/>
        </p:nvSpPr>
        <p:spPr>
          <a:xfrm>
            <a:off x="731520" y="109728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600"/>
              <a:buFont typeface="Calibri"/>
              <a:buNone/>
            </a:pPr>
            <a:r>
              <a:rPr b="1" i="0" lang="en-US" sz="1600" u="none" cap="none" strike="noStrike">
                <a:solidFill>
                  <a:srgbClr val="028090"/>
                </a:solidFill>
                <a:latin typeface="Calibri"/>
                <a:ea typeface="Calibri"/>
                <a:cs typeface="Calibri"/>
                <a:sym typeface="Calibri"/>
              </a:rPr>
              <a:t>Step-by-Step Booking Workflow:</a:t>
            </a:r>
            <a:endParaRPr b="0" i="0" sz="1600" u="none" cap="none" strike="noStrike">
              <a:solidFill>
                <a:schemeClr val="dk1"/>
              </a:solidFill>
              <a:latin typeface="Calibri"/>
              <a:ea typeface="Calibri"/>
              <a:cs typeface="Calibri"/>
              <a:sym typeface="Calibri"/>
            </a:endParaRPr>
          </a:p>
        </p:txBody>
      </p:sp>
      <p:sp>
        <p:nvSpPr>
          <p:cNvPr id="111" name="Google Shape;111;p11"/>
          <p:cNvSpPr/>
          <p:nvPr/>
        </p:nvSpPr>
        <p:spPr>
          <a:xfrm>
            <a:off x="731520" y="1645920"/>
            <a:ext cx="768096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Step 1: User logs in or registers with credentials</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Step 2: Search for buses by specifying source, destination</a:t>
            </a:r>
            <a:r>
              <a:rPr lang="en-US">
                <a:solidFill>
                  <a:srgbClr val="2C3E5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Step 3: Select preferred bus from filtered results</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Step 4: View interactive seat map and select desired seats</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Step 5: Enter passenger details and confirm reservation</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Step 6: Proceed to simulated payment gateway</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Step 7: Receive instant booking confirmation with unique reference number</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Step 8: Download or print e-ticket with all booking details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116" name="Shape 116"/>
        <p:cNvGrpSpPr/>
        <p:nvPr/>
      </p:nvGrpSpPr>
      <p:grpSpPr>
        <a:xfrm>
          <a:off x="0" y="0"/>
          <a:ext cx="0" cy="0"/>
          <a:chOff x="0" y="0"/>
          <a:chExt cx="0" cy="0"/>
        </a:xfrm>
      </p:grpSpPr>
      <p:sp>
        <p:nvSpPr>
          <p:cNvPr id="117" name="Google Shape;117;g3c5a05a22c8_0_56"/>
          <p:cNvSpPr/>
          <p:nvPr/>
        </p:nvSpPr>
        <p:spPr>
          <a:xfrm>
            <a:off x="0" y="0"/>
            <a:ext cx="9144000" cy="64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c5a05a22c8_0_56"/>
          <p:cNvSpPr/>
          <p:nvPr/>
        </p:nvSpPr>
        <p:spPr>
          <a:xfrm>
            <a:off x="457200" y="13716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Data</a:t>
            </a:r>
            <a:r>
              <a:rPr b="1" lang="en-US" sz="3600">
                <a:solidFill>
                  <a:srgbClr val="FFFFFF"/>
                </a:solidFill>
                <a:latin typeface="Calibri"/>
                <a:ea typeface="Calibri"/>
                <a:cs typeface="Calibri"/>
                <a:sym typeface="Calibri"/>
              </a:rPr>
              <a:t>base Schema </a:t>
            </a:r>
            <a:r>
              <a:rPr b="1" i="0" lang="en-US" sz="3600" u="none" cap="none" strike="noStrike">
                <a:solidFill>
                  <a:srgbClr val="FFFFFF"/>
                </a:solidFill>
                <a:latin typeface="Calibri"/>
                <a:ea typeface="Calibri"/>
                <a:cs typeface="Calibri"/>
                <a:sym typeface="Calibri"/>
              </a:rPr>
              <a:t>of OBRS </a:t>
            </a:r>
            <a:endParaRPr b="0" i="0" sz="3600" u="none" cap="none" strike="noStrike">
              <a:solidFill>
                <a:schemeClr val="dk1"/>
              </a:solidFill>
              <a:latin typeface="Calibri"/>
              <a:ea typeface="Calibri"/>
              <a:cs typeface="Calibri"/>
              <a:sym typeface="Calibri"/>
            </a:endParaRPr>
          </a:p>
        </p:txBody>
      </p:sp>
      <p:pic>
        <p:nvPicPr>
          <p:cNvPr id="119" name="Google Shape;119;g3c5a05a22c8_0_56"/>
          <p:cNvPicPr preferRelativeResize="0"/>
          <p:nvPr/>
        </p:nvPicPr>
        <p:blipFill>
          <a:blip r:embed="rId3">
            <a:alphaModFix/>
          </a:blip>
          <a:stretch>
            <a:fillRect/>
          </a:stretch>
        </p:blipFill>
        <p:spPr>
          <a:xfrm>
            <a:off x="0" y="857751"/>
            <a:ext cx="9144001" cy="39398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124" name="Shape 124"/>
        <p:cNvGrpSpPr/>
        <p:nvPr/>
      </p:nvGrpSpPr>
      <p:grpSpPr>
        <a:xfrm>
          <a:off x="0" y="0"/>
          <a:ext cx="0" cy="0"/>
          <a:chOff x="0" y="0"/>
          <a:chExt cx="0" cy="0"/>
        </a:xfrm>
      </p:grpSpPr>
      <p:sp>
        <p:nvSpPr>
          <p:cNvPr id="125" name="Google Shape;125;g3c5a05a22c8_0_22"/>
          <p:cNvSpPr/>
          <p:nvPr/>
        </p:nvSpPr>
        <p:spPr>
          <a:xfrm>
            <a:off x="0" y="0"/>
            <a:ext cx="9144000" cy="64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c5a05a22c8_0_22"/>
          <p:cNvSpPr/>
          <p:nvPr/>
        </p:nvSpPr>
        <p:spPr>
          <a:xfrm>
            <a:off x="457200" y="13716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Use Case Diagram of OBRS</a:t>
            </a:r>
            <a:endParaRPr b="0" i="0" sz="3600" u="none" cap="none" strike="noStrike">
              <a:solidFill>
                <a:schemeClr val="dk1"/>
              </a:solidFill>
              <a:latin typeface="Calibri"/>
              <a:ea typeface="Calibri"/>
              <a:cs typeface="Calibri"/>
              <a:sym typeface="Calibri"/>
            </a:endParaRPr>
          </a:p>
        </p:txBody>
      </p:sp>
      <p:pic>
        <p:nvPicPr>
          <p:cNvPr id="127" name="Google Shape;127;g3c5a05a22c8_0_22"/>
          <p:cNvPicPr preferRelativeResize="0"/>
          <p:nvPr/>
        </p:nvPicPr>
        <p:blipFill>
          <a:blip r:embed="rId3">
            <a:alphaModFix/>
          </a:blip>
          <a:stretch>
            <a:fillRect/>
          </a:stretch>
        </p:blipFill>
        <p:spPr>
          <a:xfrm>
            <a:off x="3252500" y="738200"/>
            <a:ext cx="2322574" cy="41984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132" name="Shape 132"/>
        <p:cNvGrpSpPr/>
        <p:nvPr/>
      </p:nvGrpSpPr>
      <p:grpSpPr>
        <a:xfrm>
          <a:off x="0" y="0"/>
          <a:ext cx="0" cy="0"/>
          <a:chOff x="0" y="0"/>
          <a:chExt cx="0" cy="0"/>
        </a:xfrm>
      </p:grpSpPr>
      <p:sp>
        <p:nvSpPr>
          <p:cNvPr id="133" name="Google Shape;133;g3c5a05a22c8_0_31"/>
          <p:cNvSpPr/>
          <p:nvPr/>
        </p:nvSpPr>
        <p:spPr>
          <a:xfrm>
            <a:off x="0" y="0"/>
            <a:ext cx="9144000" cy="64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c5a05a22c8_0_31"/>
          <p:cNvSpPr/>
          <p:nvPr/>
        </p:nvSpPr>
        <p:spPr>
          <a:xfrm>
            <a:off x="457200" y="13716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Technical Feasibility of OBRS</a:t>
            </a:r>
            <a:endParaRPr b="0" i="0" sz="3600" u="none" cap="none" strike="noStrike">
              <a:solidFill>
                <a:schemeClr val="dk1"/>
              </a:solidFill>
              <a:latin typeface="Calibri"/>
              <a:ea typeface="Calibri"/>
              <a:cs typeface="Calibri"/>
              <a:sym typeface="Calibri"/>
            </a:endParaRPr>
          </a:p>
        </p:txBody>
      </p:sp>
      <p:pic>
        <p:nvPicPr>
          <p:cNvPr id="135" name="Google Shape;135;g3c5a05a22c8_0_31"/>
          <p:cNvPicPr preferRelativeResize="0"/>
          <p:nvPr/>
        </p:nvPicPr>
        <p:blipFill>
          <a:blip r:embed="rId3">
            <a:alphaModFix/>
          </a:blip>
          <a:stretch>
            <a:fillRect/>
          </a:stretch>
        </p:blipFill>
        <p:spPr>
          <a:xfrm>
            <a:off x="203150" y="1057825"/>
            <a:ext cx="8839200" cy="302784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140" name="Shape 140"/>
        <p:cNvGrpSpPr/>
        <p:nvPr/>
      </p:nvGrpSpPr>
      <p:grpSpPr>
        <a:xfrm>
          <a:off x="0" y="0"/>
          <a:ext cx="0" cy="0"/>
          <a:chOff x="0" y="0"/>
          <a:chExt cx="0" cy="0"/>
        </a:xfrm>
      </p:grpSpPr>
      <p:sp>
        <p:nvSpPr>
          <p:cNvPr id="141" name="Google Shape;141;g3c5a05a22c8_0_39"/>
          <p:cNvSpPr/>
          <p:nvPr/>
        </p:nvSpPr>
        <p:spPr>
          <a:xfrm>
            <a:off x="0" y="0"/>
            <a:ext cx="9144000" cy="64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c5a05a22c8_0_39"/>
          <p:cNvSpPr/>
          <p:nvPr/>
        </p:nvSpPr>
        <p:spPr>
          <a:xfrm>
            <a:off x="457200" y="13716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Schedule Feasibility of OBRS</a:t>
            </a:r>
            <a:endParaRPr b="0" i="0" sz="3600" u="none" cap="none" strike="noStrike">
              <a:solidFill>
                <a:schemeClr val="dk1"/>
              </a:solidFill>
              <a:latin typeface="Calibri"/>
              <a:ea typeface="Calibri"/>
              <a:cs typeface="Calibri"/>
              <a:sym typeface="Calibri"/>
            </a:endParaRPr>
          </a:p>
        </p:txBody>
      </p:sp>
      <p:pic>
        <p:nvPicPr>
          <p:cNvPr id="143" name="Google Shape;143;g3c5a05a22c8_0_39"/>
          <p:cNvPicPr preferRelativeResize="0"/>
          <p:nvPr/>
        </p:nvPicPr>
        <p:blipFill>
          <a:blip r:embed="rId3">
            <a:alphaModFix/>
          </a:blip>
          <a:stretch>
            <a:fillRect/>
          </a:stretch>
        </p:blipFill>
        <p:spPr>
          <a:xfrm>
            <a:off x="333638" y="799350"/>
            <a:ext cx="8601075" cy="4305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148" name="Shape 148"/>
        <p:cNvGrpSpPr/>
        <p:nvPr/>
      </p:nvGrpSpPr>
      <p:grpSpPr>
        <a:xfrm>
          <a:off x="0" y="0"/>
          <a:ext cx="0" cy="0"/>
          <a:chOff x="0" y="0"/>
          <a:chExt cx="0" cy="0"/>
        </a:xfrm>
      </p:grpSpPr>
      <p:sp>
        <p:nvSpPr>
          <p:cNvPr id="149" name="Google Shape;149;p10"/>
          <p:cNvSpPr/>
          <p:nvPr/>
        </p:nvSpPr>
        <p:spPr>
          <a:xfrm>
            <a:off x="0" y="0"/>
            <a:ext cx="914400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0"/>
          <p:cNvSpPr/>
          <p:nvPr/>
        </p:nvSpPr>
        <p:spPr>
          <a:xfrm>
            <a:off x="457200" y="1371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Admin Management Functions</a:t>
            </a:r>
            <a:endParaRPr b="0" i="0" sz="3600" u="none" cap="none" strike="noStrike">
              <a:solidFill>
                <a:schemeClr val="dk1"/>
              </a:solidFill>
              <a:latin typeface="Calibri"/>
              <a:ea typeface="Calibri"/>
              <a:cs typeface="Calibri"/>
              <a:sym typeface="Calibri"/>
            </a:endParaRPr>
          </a:p>
        </p:txBody>
      </p:sp>
      <p:sp>
        <p:nvSpPr>
          <p:cNvPr id="151" name="Google Shape;151;p10"/>
          <p:cNvSpPr/>
          <p:nvPr/>
        </p:nvSpPr>
        <p:spPr>
          <a:xfrm>
            <a:off x="731520" y="109728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600"/>
              <a:buFont typeface="Calibri"/>
              <a:buNone/>
            </a:pPr>
            <a:r>
              <a:rPr b="1" i="0" lang="en-US" sz="1600" u="none" cap="none" strike="noStrike">
                <a:solidFill>
                  <a:srgbClr val="028090"/>
                </a:solidFill>
                <a:latin typeface="Calibri"/>
                <a:ea typeface="Calibri"/>
                <a:cs typeface="Calibri"/>
                <a:sym typeface="Calibri"/>
              </a:rPr>
              <a:t>Bus &amp; Route Management:</a:t>
            </a:r>
            <a:endParaRPr b="0" i="0" sz="1600" u="none" cap="none" strike="noStrike">
              <a:solidFill>
                <a:schemeClr val="dk1"/>
              </a:solidFill>
              <a:latin typeface="Calibri"/>
              <a:ea typeface="Calibri"/>
              <a:cs typeface="Calibri"/>
              <a:sym typeface="Calibri"/>
            </a:endParaRPr>
          </a:p>
        </p:txBody>
      </p:sp>
      <p:sp>
        <p:nvSpPr>
          <p:cNvPr id="152" name="Google Shape;152;p10"/>
          <p:cNvSpPr/>
          <p:nvPr/>
        </p:nvSpPr>
        <p:spPr>
          <a:xfrm>
            <a:off x="731520" y="1645920"/>
            <a:ext cx="7680960" cy="10972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Create, update, and delete bus routes and schedules</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Set fares, capacity, and departure/arrival times</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Monitor real-time seat availability and occupancy</a:t>
            </a:r>
            <a:endParaRPr b="0" i="0" sz="1400" u="none" cap="none" strike="noStrike">
              <a:solidFill>
                <a:schemeClr val="dk1"/>
              </a:solidFill>
              <a:latin typeface="Calibri"/>
              <a:ea typeface="Calibri"/>
              <a:cs typeface="Calibri"/>
              <a:sym typeface="Calibri"/>
            </a:endParaRPr>
          </a:p>
        </p:txBody>
      </p:sp>
      <p:sp>
        <p:nvSpPr>
          <p:cNvPr id="153" name="Google Shape;153;p10"/>
          <p:cNvSpPr/>
          <p:nvPr/>
        </p:nvSpPr>
        <p:spPr>
          <a:xfrm>
            <a:off x="731520" y="292608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600"/>
              <a:buFont typeface="Calibri"/>
              <a:buNone/>
            </a:pPr>
            <a:r>
              <a:rPr b="1" i="0" lang="en-US" sz="1600" u="none" cap="none" strike="noStrike">
                <a:solidFill>
                  <a:srgbClr val="028090"/>
                </a:solidFill>
                <a:latin typeface="Calibri"/>
                <a:ea typeface="Calibri"/>
                <a:cs typeface="Calibri"/>
                <a:sym typeface="Calibri"/>
              </a:rPr>
              <a:t>User &amp; Reservation Management:</a:t>
            </a:r>
            <a:endParaRPr b="0" i="0" sz="1600" u="none" cap="none" strike="noStrike">
              <a:solidFill>
                <a:schemeClr val="dk1"/>
              </a:solidFill>
              <a:latin typeface="Calibri"/>
              <a:ea typeface="Calibri"/>
              <a:cs typeface="Calibri"/>
              <a:sym typeface="Calibri"/>
            </a:endParaRPr>
          </a:p>
        </p:txBody>
      </p:sp>
      <p:sp>
        <p:nvSpPr>
          <p:cNvPr id="154" name="Google Shape;154;p10"/>
          <p:cNvSpPr/>
          <p:nvPr/>
        </p:nvSpPr>
        <p:spPr>
          <a:xfrm>
            <a:off x="731520" y="3474720"/>
            <a:ext cx="7680960" cy="14630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View and manage all registered users.</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Monitor all reservations and booking statuses</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Cancel or modify reservations when needed</a:t>
            </a:r>
            <a:endParaRPr b="0" i="0" sz="1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2C3E50"/>
              </a:buClr>
              <a:buSzPts val="1400"/>
              <a:buFont typeface="Calibri"/>
              <a:buChar char="•"/>
            </a:pPr>
            <a:r>
              <a:rPr b="0" i="0" lang="en-US" sz="1400" u="none" cap="none" strike="noStrike">
                <a:solidFill>
                  <a:srgbClr val="2C3E50"/>
                </a:solidFill>
                <a:latin typeface="Calibri"/>
                <a:ea typeface="Calibri"/>
                <a:cs typeface="Calibri"/>
                <a:sym typeface="Calibri"/>
              </a:rPr>
              <a:t>Generate reports and analytics for business insights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159" name="Shape 159"/>
        <p:cNvGrpSpPr/>
        <p:nvPr/>
      </p:nvGrpSpPr>
      <p:grpSpPr>
        <a:xfrm>
          <a:off x="0" y="0"/>
          <a:ext cx="0" cy="0"/>
          <a:chOff x="0" y="0"/>
          <a:chExt cx="0" cy="0"/>
        </a:xfrm>
      </p:grpSpPr>
      <p:sp>
        <p:nvSpPr>
          <p:cNvPr id="160" name="Google Shape;160;g3c5a05a22c8_0_64"/>
          <p:cNvSpPr/>
          <p:nvPr/>
        </p:nvSpPr>
        <p:spPr>
          <a:xfrm>
            <a:off x="0" y="0"/>
            <a:ext cx="9144000" cy="64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c5a05a22c8_0_64"/>
          <p:cNvSpPr/>
          <p:nvPr/>
        </p:nvSpPr>
        <p:spPr>
          <a:xfrm>
            <a:off x="457200" y="13716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SQL Code for OBRS </a:t>
            </a:r>
            <a:endParaRPr b="0" i="0" sz="3600" u="none" cap="none" strike="noStrike">
              <a:solidFill>
                <a:schemeClr val="dk1"/>
              </a:solidFill>
              <a:latin typeface="Calibri"/>
              <a:ea typeface="Calibri"/>
              <a:cs typeface="Calibri"/>
              <a:sym typeface="Calibri"/>
            </a:endParaRPr>
          </a:p>
        </p:txBody>
      </p:sp>
      <p:pic>
        <p:nvPicPr>
          <p:cNvPr id="162" name="Google Shape;162;g3c5a05a22c8_0_64"/>
          <p:cNvPicPr preferRelativeResize="0"/>
          <p:nvPr/>
        </p:nvPicPr>
        <p:blipFill>
          <a:blip r:embed="rId3">
            <a:alphaModFix/>
          </a:blip>
          <a:stretch>
            <a:fillRect/>
          </a:stretch>
        </p:blipFill>
        <p:spPr>
          <a:xfrm>
            <a:off x="152400" y="792600"/>
            <a:ext cx="4451645" cy="4198500"/>
          </a:xfrm>
          <a:prstGeom prst="rect">
            <a:avLst/>
          </a:prstGeom>
          <a:noFill/>
          <a:ln>
            <a:noFill/>
          </a:ln>
        </p:spPr>
      </p:pic>
      <p:pic>
        <p:nvPicPr>
          <p:cNvPr id="163" name="Google Shape;163;g3c5a05a22c8_0_64"/>
          <p:cNvPicPr preferRelativeResize="0"/>
          <p:nvPr/>
        </p:nvPicPr>
        <p:blipFill>
          <a:blip r:embed="rId4">
            <a:alphaModFix/>
          </a:blip>
          <a:stretch>
            <a:fillRect/>
          </a:stretch>
        </p:blipFill>
        <p:spPr>
          <a:xfrm>
            <a:off x="4756450" y="792600"/>
            <a:ext cx="4235150" cy="4198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168" name="Shape 168"/>
        <p:cNvGrpSpPr/>
        <p:nvPr/>
      </p:nvGrpSpPr>
      <p:grpSpPr>
        <a:xfrm>
          <a:off x="0" y="0"/>
          <a:ext cx="0" cy="0"/>
          <a:chOff x="0" y="0"/>
          <a:chExt cx="0" cy="0"/>
        </a:xfrm>
      </p:grpSpPr>
      <p:sp>
        <p:nvSpPr>
          <p:cNvPr id="169" name="Google Shape;169;p16"/>
          <p:cNvSpPr/>
          <p:nvPr/>
        </p:nvSpPr>
        <p:spPr>
          <a:xfrm>
            <a:off x="0" y="0"/>
            <a:ext cx="914400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
          <p:cNvSpPr/>
          <p:nvPr/>
        </p:nvSpPr>
        <p:spPr>
          <a:xfrm>
            <a:off x="457200" y="1371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Future Enhancements</a:t>
            </a:r>
            <a:endParaRPr b="0" i="0" sz="3600" u="none" cap="none" strike="noStrike">
              <a:solidFill>
                <a:schemeClr val="dk1"/>
              </a:solidFill>
              <a:latin typeface="Calibri"/>
              <a:ea typeface="Calibri"/>
              <a:cs typeface="Calibri"/>
              <a:sym typeface="Calibri"/>
            </a:endParaRPr>
          </a:p>
        </p:txBody>
      </p:sp>
      <p:sp>
        <p:nvSpPr>
          <p:cNvPr id="171" name="Google Shape;171;p16"/>
          <p:cNvSpPr/>
          <p:nvPr/>
        </p:nvSpPr>
        <p:spPr>
          <a:xfrm>
            <a:off x="904350" y="1103275"/>
            <a:ext cx="8229600" cy="3619500"/>
          </a:xfrm>
          <a:prstGeom prst="rect">
            <a:avLst/>
          </a:prstGeom>
          <a:noFill/>
          <a:ln>
            <a:noFill/>
          </a:ln>
        </p:spPr>
        <p:txBody>
          <a:bodyPr anchorCtr="0" anchor="ctr" bIns="45700" lIns="91425" spcFirstLastPara="1" rIns="91425" wrap="square" tIns="45700">
            <a:noAutofit/>
          </a:bodyPr>
          <a:lstStyle/>
          <a:p>
            <a:pPr indent="-330200" lvl="0" marL="457200" rtl="0" algn="just">
              <a:spcBef>
                <a:spcPts val="0"/>
              </a:spcBef>
              <a:spcAft>
                <a:spcPts val="0"/>
              </a:spcAft>
              <a:buClr>
                <a:schemeClr val="dk1"/>
              </a:buClr>
              <a:buSzPts val="1600"/>
              <a:buChar char="●"/>
            </a:pPr>
            <a:r>
              <a:rPr b="1" lang="en-US" sz="1600">
                <a:solidFill>
                  <a:schemeClr val="dk1"/>
                </a:solidFill>
              </a:rPr>
              <a:t>Live Payment Integration:</a:t>
            </a:r>
            <a:r>
              <a:rPr lang="en-US" sz="1600">
                <a:solidFill>
                  <a:schemeClr val="dk1"/>
                </a:solidFill>
              </a:rPr>
              <a:t> Implement real payment gateways such as </a:t>
            </a:r>
            <a:r>
              <a:rPr b="1" lang="en-US" sz="1600">
                <a:solidFill>
                  <a:schemeClr val="dk1"/>
                </a:solidFill>
              </a:rPr>
              <a:t>eSewa, Khalti, or mobile banking</a:t>
            </a:r>
            <a:r>
              <a:rPr lang="en-US" sz="1600">
                <a:solidFill>
                  <a:schemeClr val="dk1"/>
                </a:solidFill>
              </a:rPr>
              <a:t> for real transactions.</a:t>
            </a:r>
            <a:br>
              <a:rPr lang="en-US" sz="1600">
                <a:solidFill>
                  <a:schemeClr val="dk1"/>
                </a:solidFill>
              </a:rPr>
            </a:br>
            <a:endParaRPr sz="1600">
              <a:solidFill>
                <a:schemeClr val="dk1"/>
              </a:solidFill>
            </a:endParaRPr>
          </a:p>
          <a:p>
            <a:pPr indent="-330200" lvl="0" marL="457200" rtl="0" algn="just">
              <a:spcBef>
                <a:spcPts val="0"/>
              </a:spcBef>
              <a:spcAft>
                <a:spcPts val="0"/>
              </a:spcAft>
              <a:buClr>
                <a:schemeClr val="dk1"/>
              </a:buClr>
              <a:buSzPts val="1600"/>
              <a:buChar char="●"/>
            </a:pPr>
            <a:r>
              <a:rPr b="1" lang="en-US" sz="1600">
                <a:solidFill>
                  <a:schemeClr val="dk1"/>
                </a:solidFill>
              </a:rPr>
              <a:t>Mobile Application Development:</a:t>
            </a:r>
            <a:r>
              <a:rPr lang="en-US" sz="1600">
                <a:solidFill>
                  <a:schemeClr val="dk1"/>
                </a:solidFill>
              </a:rPr>
              <a:t> Build Android and iOS apps using frameworks like </a:t>
            </a:r>
            <a:r>
              <a:rPr b="1" lang="en-US" sz="1600">
                <a:solidFill>
                  <a:schemeClr val="dk1"/>
                </a:solidFill>
              </a:rPr>
              <a:t>Flutter or React Native</a:t>
            </a:r>
            <a:r>
              <a:rPr lang="en-US" sz="1600">
                <a:solidFill>
                  <a:schemeClr val="dk1"/>
                </a:solidFill>
              </a:rPr>
              <a:t> to support mobile users.</a:t>
            </a:r>
            <a:br>
              <a:rPr lang="en-US" sz="1600">
                <a:solidFill>
                  <a:schemeClr val="dk1"/>
                </a:solidFill>
              </a:rPr>
            </a:br>
            <a:endParaRPr sz="1600">
              <a:solidFill>
                <a:schemeClr val="dk1"/>
              </a:solidFill>
            </a:endParaRPr>
          </a:p>
          <a:p>
            <a:pPr indent="-330200" lvl="0" marL="457200" rtl="0" algn="just">
              <a:spcBef>
                <a:spcPts val="0"/>
              </a:spcBef>
              <a:spcAft>
                <a:spcPts val="0"/>
              </a:spcAft>
              <a:buClr>
                <a:schemeClr val="dk1"/>
              </a:buClr>
              <a:buSzPts val="1600"/>
              <a:buChar char="●"/>
            </a:pPr>
            <a:r>
              <a:rPr b="1" lang="en-US" sz="1600">
                <a:solidFill>
                  <a:schemeClr val="dk1"/>
                </a:solidFill>
              </a:rPr>
              <a:t>Advanced Features:</a:t>
            </a:r>
            <a:r>
              <a:rPr lang="en-US" sz="1600">
                <a:solidFill>
                  <a:schemeClr val="dk1"/>
                </a:solidFill>
              </a:rPr>
              <a:t> Add </a:t>
            </a:r>
            <a:r>
              <a:rPr b="1" lang="en-US" sz="1600">
                <a:solidFill>
                  <a:schemeClr val="dk1"/>
                </a:solidFill>
              </a:rPr>
              <a:t>GPS bus tracking, delay notifications, multilingual support</a:t>
            </a:r>
            <a:r>
              <a:rPr lang="en-US" sz="1600">
                <a:solidFill>
                  <a:schemeClr val="dk1"/>
                </a:solidFill>
              </a:rPr>
              <a:t>, and basic </a:t>
            </a:r>
            <a:r>
              <a:rPr b="1" lang="en-US" sz="1600">
                <a:solidFill>
                  <a:schemeClr val="dk1"/>
                </a:solidFill>
              </a:rPr>
              <a:t>analytics for demand forecasting</a:t>
            </a:r>
            <a:r>
              <a:rPr lang="en-US" sz="1600">
                <a:solidFill>
                  <a:schemeClr val="dk1"/>
                </a:solidFill>
              </a:rPr>
              <a:t>.</a:t>
            </a:r>
            <a:br>
              <a:rPr lang="en-US" sz="1600">
                <a:solidFill>
                  <a:schemeClr val="dk1"/>
                </a:solidFill>
              </a:rPr>
            </a:br>
            <a:endParaRPr sz="1600">
              <a:solidFill>
                <a:schemeClr val="dk1"/>
              </a:solidFill>
            </a:endParaRPr>
          </a:p>
          <a:p>
            <a:pPr indent="-330200" lvl="0" marL="457200" rtl="0" algn="just">
              <a:spcBef>
                <a:spcPts val="0"/>
              </a:spcBef>
              <a:spcAft>
                <a:spcPts val="0"/>
              </a:spcAft>
              <a:buClr>
                <a:schemeClr val="dk1"/>
              </a:buClr>
              <a:buSzPts val="1600"/>
              <a:buChar char="●"/>
            </a:pPr>
            <a:r>
              <a:rPr b="1" lang="en-US" sz="1600">
                <a:solidFill>
                  <a:schemeClr val="dk1"/>
                </a:solidFill>
              </a:rPr>
              <a:t>Security &amp; Performance:</a:t>
            </a:r>
            <a:r>
              <a:rPr lang="en-US" sz="1600">
                <a:solidFill>
                  <a:schemeClr val="dk1"/>
                </a:solidFill>
              </a:rPr>
              <a:t> Implement </a:t>
            </a:r>
            <a:r>
              <a:rPr b="1" lang="en-US" sz="1600">
                <a:solidFill>
                  <a:schemeClr val="dk1"/>
                </a:solidFill>
              </a:rPr>
              <a:t>HTTPS, CAPTCHA protection, and load balancing</a:t>
            </a:r>
            <a:r>
              <a:rPr lang="en-US" sz="1600">
                <a:solidFill>
                  <a:schemeClr val="dk1"/>
                </a:solidFill>
              </a:rPr>
              <a:t> to handle high traffic during peak seasons.</a:t>
            </a:r>
            <a:br>
              <a:rPr lang="en-US" sz="1600">
                <a:solidFill>
                  <a:schemeClr val="dk1"/>
                </a:solidFill>
              </a:rPr>
            </a:br>
            <a:endParaRPr sz="1600">
              <a:solidFill>
                <a:schemeClr val="dk1"/>
              </a:solidFill>
            </a:endParaRPr>
          </a:p>
          <a:p>
            <a:pPr indent="-330200" lvl="0" marL="457200" rtl="0" algn="just">
              <a:spcBef>
                <a:spcPts val="0"/>
              </a:spcBef>
              <a:spcAft>
                <a:spcPts val="0"/>
              </a:spcAft>
              <a:buClr>
                <a:schemeClr val="dk1"/>
              </a:buClr>
              <a:buSzPts val="1600"/>
              <a:buChar char="●"/>
            </a:pPr>
            <a:r>
              <a:rPr b="1" lang="en-US" sz="1600">
                <a:solidFill>
                  <a:schemeClr val="dk1"/>
                </a:solidFill>
              </a:rPr>
              <a:t>Deployment &amp; Partnerships:</a:t>
            </a:r>
            <a:r>
              <a:rPr lang="en-US" sz="1600">
                <a:solidFill>
                  <a:schemeClr val="dk1"/>
                </a:solidFill>
              </a:rPr>
              <a:t> Deploy on reliable servers and collaborate with bus operators for </a:t>
            </a:r>
            <a:r>
              <a:rPr b="1" lang="en-US" sz="1600">
                <a:solidFill>
                  <a:schemeClr val="dk1"/>
                </a:solidFill>
              </a:rPr>
              <a:t>pilot testing and real-world adoption</a:t>
            </a:r>
            <a:r>
              <a:rPr lang="en-US" sz="1600">
                <a:solidFill>
                  <a:schemeClr val="dk1"/>
                </a:solidFill>
              </a:rPr>
              <a:t>.</a:t>
            </a:r>
            <a:endParaRPr sz="16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176" name="Shape 176"/>
        <p:cNvGrpSpPr/>
        <p:nvPr/>
      </p:nvGrpSpPr>
      <p:grpSpPr>
        <a:xfrm>
          <a:off x="0" y="0"/>
          <a:ext cx="0" cy="0"/>
          <a:chOff x="0" y="0"/>
          <a:chExt cx="0" cy="0"/>
        </a:xfrm>
      </p:grpSpPr>
      <p:sp>
        <p:nvSpPr>
          <p:cNvPr id="177" name="Google Shape;177;p17"/>
          <p:cNvSpPr/>
          <p:nvPr/>
        </p:nvSpPr>
        <p:spPr>
          <a:xfrm>
            <a:off x="0" y="0"/>
            <a:ext cx="914400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
          <p:cNvSpPr/>
          <p:nvPr/>
        </p:nvSpPr>
        <p:spPr>
          <a:xfrm>
            <a:off x="457200" y="1371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Conclusion</a:t>
            </a:r>
            <a:endParaRPr b="0" i="0" sz="3600" u="none" cap="none" strike="noStrike">
              <a:solidFill>
                <a:schemeClr val="dk1"/>
              </a:solidFill>
              <a:latin typeface="Calibri"/>
              <a:ea typeface="Calibri"/>
              <a:cs typeface="Calibri"/>
              <a:sym typeface="Calibri"/>
            </a:endParaRPr>
          </a:p>
        </p:txBody>
      </p:sp>
      <p:sp>
        <p:nvSpPr>
          <p:cNvPr id="179" name="Google Shape;179;p17"/>
          <p:cNvSpPr/>
          <p:nvPr/>
        </p:nvSpPr>
        <p:spPr>
          <a:xfrm>
            <a:off x="731520" y="1097280"/>
            <a:ext cx="76809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500"/>
              <a:buFont typeface="Calibri"/>
              <a:buNone/>
            </a:pPr>
            <a:r>
              <a:t/>
            </a:r>
            <a:endParaRPr b="0" i="0" sz="1500" u="none" cap="none" strike="noStrike">
              <a:solidFill>
                <a:schemeClr val="dk1"/>
              </a:solidFill>
              <a:latin typeface="Calibri"/>
              <a:ea typeface="Calibri"/>
              <a:cs typeface="Calibri"/>
              <a:sym typeface="Calibri"/>
            </a:endParaRPr>
          </a:p>
        </p:txBody>
      </p:sp>
      <p:sp>
        <p:nvSpPr>
          <p:cNvPr id="180" name="Google Shape;180;p17"/>
          <p:cNvSpPr txBox="1"/>
          <p:nvPr/>
        </p:nvSpPr>
        <p:spPr>
          <a:xfrm>
            <a:off x="1457175" y="4820400"/>
            <a:ext cx="5998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chemeClr val="dk1"/>
                </a:solidFill>
              </a:rPr>
              <a:t>Website is live at </a:t>
            </a:r>
            <a:r>
              <a:rPr lang="en-US" sz="900" u="sng">
                <a:solidFill>
                  <a:schemeClr val="hlink"/>
                </a:solidFill>
                <a:hlinkClick r:id="rId3"/>
              </a:rPr>
              <a:t>bussewa.infinityfreeapp.com/BCA-4TH-PROJECT-BUS-RESERVATION/pages/public/home.php</a:t>
            </a:r>
            <a:endParaRPr sz="800"/>
          </a:p>
        </p:txBody>
      </p:sp>
      <p:sp>
        <p:nvSpPr>
          <p:cNvPr id="181" name="Google Shape;181;p17"/>
          <p:cNvSpPr txBox="1"/>
          <p:nvPr/>
        </p:nvSpPr>
        <p:spPr>
          <a:xfrm>
            <a:off x="457200" y="839200"/>
            <a:ext cx="8110500" cy="3879000"/>
          </a:xfrm>
          <a:prstGeom prst="rect">
            <a:avLst/>
          </a:prstGeom>
          <a:noFill/>
          <a:ln>
            <a:noFill/>
          </a:ln>
        </p:spPr>
        <p:txBody>
          <a:bodyPr anchorCtr="0" anchor="t" bIns="91425" lIns="91425" spcFirstLastPara="1" rIns="91425" wrap="square" tIns="91425">
            <a:spAutoFit/>
          </a:bodyPr>
          <a:lstStyle/>
          <a:p>
            <a:pPr indent="-330200" lvl="0" marL="457200" rtl="0" algn="just">
              <a:spcBef>
                <a:spcPts val="0"/>
              </a:spcBef>
              <a:spcAft>
                <a:spcPts val="0"/>
              </a:spcAft>
              <a:buClr>
                <a:schemeClr val="dk1"/>
              </a:buClr>
              <a:buSzPts val="1600"/>
              <a:buChar char="●"/>
            </a:pPr>
            <a:r>
              <a:rPr lang="en-US" sz="1600">
                <a:solidFill>
                  <a:schemeClr val="dk1"/>
                </a:solidFill>
              </a:rPr>
              <a:t>OBRS addresses major problems in Nepal’s traditional bus ticketing system such as long queues, overbooking, and lack of real-time information.</a:t>
            </a:r>
            <a:br>
              <a:rPr lang="en-US" sz="1600">
                <a:solidFill>
                  <a:schemeClr val="dk1"/>
                </a:solidFill>
              </a:rPr>
            </a:b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Built using </a:t>
            </a:r>
            <a:r>
              <a:rPr b="1" lang="en-US" sz="1600">
                <a:solidFill>
                  <a:schemeClr val="dk1"/>
                </a:solidFill>
              </a:rPr>
              <a:t>PHP, MySQL, and responsive web design</a:t>
            </a:r>
            <a:r>
              <a:rPr lang="en-US" sz="1600">
                <a:solidFill>
                  <a:schemeClr val="dk1"/>
                </a:solidFill>
              </a:rPr>
              <a:t>, the system provides a simple and cost-effective digital reservation platform.</a:t>
            </a:r>
            <a:br>
              <a:rPr lang="en-US" sz="1600">
                <a:solidFill>
                  <a:schemeClr val="dk1"/>
                </a:solidFill>
              </a:rPr>
            </a:b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Features like </a:t>
            </a:r>
            <a:r>
              <a:rPr b="1" lang="en-US" sz="1600">
                <a:solidFill>
                  <a:schemeClr val="dk1"/>
                </a:solidFill>
              </a:rPr>
              <a:t>route search, seat selection, simulated payment, e-ticket generation, and admin management tools</a:t>
            </a:r>
            <a:r>
              <a:rPr lang="en-US" sz="1600">
                <a:solidFill>
                  <a:schemeClr val="dk1"/>
                </a:solidFill>
              </a:rPr>
              <a:t> ensure complete booking management.</a:t>
            </a:r>
            <a:br>
              <a:rPr lang="en-US" sz="1600">
                <a:solidFill>
                  <a:schemeClr val="dk1"/>
                </a:solidFill>
              </a:rPr>
            </a:b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System design, feasibility analysis, and testing confirmed strong functionality, usability, and reliability.</a:t>
            </a:r>
            <a:br>
              <a:rPr lang="en-US" sz="1600">
                <a:solidFill>
                  <a:schemeClr val="dk1"/>
                </a:solidFill>
              </a:rPr>
            </a:br>
            <a:endParaRPr sz="1600">
              <a:solidFill>
                <a:schemeClr val="dk1"/>
              </a:solidFill>
            </a:endParaRPr>
          </a:p>
          <a:p>
            <a:pPr indent="-330200" lvl="0" marL="457200" rtl="0" algn="just">
              <a:spcBef>
                <a:spcPts val="0"/>
              </a:spcBef>
              <a:spcAft>
                <a:spcPts val="0"/>
              </a:spcAft>
              <a:buClr>
                <a:schemeClr val="dk1"/>
              </a:buClr>
              <a:buSzPts val="1600"/>
              <a:buChar char="●"/>
            </a:pPr>
            <a:r>
              <a:rPr lang="en-US" sz="1600">
                <a:solidFill>
                  <a:schemeClr val="dk1"/>
                </a:solidFill>
              </a:rPr>
              <a:t>The project supports the </a:t>
            </a:r>
            <a:r>
              <a:rPr b="1" lang="en-US" sz="1600">
                <a:solidFill>
                  <a:schemeClr val="dk1"/>
                </a:solidFill>
              </a:rPr>
              <a:t>digital transformation of Nepal’s transportation sector</a:t>
            </a:r>
            <a:r>
              <a:rPr lang="en-US" sz="1600">
                <a:solidFill>
                  <a:schemeClr val="dk1"/>
                </a:solidFill>
              </a:rPr>
              <a:t> and demonstrates practical software engineering skills in a real-world context.</a:t>
            </a:r>
            <a:endParaRPr sz="16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186" name="Shape 186"/>
        <p:cNvGrpSpPr/>
        <p:nvPr/>
      </p:nvGrpSpPr>
      <p:grpSpPr>
        <a:xfrm>
          <a:off x="0" y="0"/>
          <a:ext cx="0" cy="0"/>
          <a:chOff x="0" y="0"/>
          <a:chExt cx="0" cy="0"/>
        </a:xfrm>
      </p:grpSpPr>
      <p:sp>
        <p:nvSpPr>
          <p:cNvPr id="187" name="Google Shape;187;g3960c71d1ba_0_4"/>
          <p:cNvSpPr/>
          <p:nvPr/>
        </p:nvSpPr>
        <p:spPr>
          <a:xfrm>
            <a:off x="0" y="0"/>
            <a:ext cx="9144000" cy="64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960c71d1ba_0_4"/>
          <p:cNvSpPr/>
          <p:nvPr/>
        </p:nvSpPr>
        <p:spPr>
          <a:xfrm>
            <a:off x="457200" y="137160"/>
            <a:ext cx="8229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600"/>
              <a:buFont typeface="Calibri"/>
              <a:buNone/>
            </a:pPr>
            <a:r>
              <a:rPr b="1" lang="en-US" sz="3600">
                <a:solidFill>
                  <a:srgbClr val="FFFFFF"/>
                </a:solidFill>
                <a:latin typeface="Calibri"/>
                <a:ea typeface="Calibri"/>
                <a:cs typeface="Calibri"/>
                <a:sym typeface="Calibri"/>
              </a:rPr>
              <a:t>References </a:t>
            </a:r>
            <a:endParaRPr b="0" i="0" sz="3600" u="none" cap="none" strike="noStrike">
              <a:solidFill>
                <a:schemeClr val="dk1"/>
              </a:solidFill>
              <a:latin typeface="Calibri"/>
              <a:ea typeface="Calibri"/>
              <a:cs typeface="Calibri"/>
              <a:sym typeface="Calibri"/>
            </a:endParaRPr>
          </a:p>
        </p:txBody>
      </p:sp>
      <p:sp>
        <p:nvSpPr>
          <p:cNvPr id="189" name="Google Shape;189;g3960c71d1ba_0_4"/>
          <p:cNvSpPr/>
          <p:nvPr/>
        </p:nvSpPr>
        <p:spPr>
          <a:xfrm>
            <a:off x="731520" y="1097280"/>
            <a:ext cx="7680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3E50"/>
              </a:buClr>
              <a:buSzPts val="1500"/>
              <a:buFont typeface="Calibri"/>
              <a:buNone/>
            </a:pPr>
            <a:r>
              <a:t/>
            </a:r>
            <a:endParaRPr b="0" i="0" sz="1500" u="none" cap="none" strike="noStrike">
              <a:solidFill>
                <a:schemeClr val="dk1"/>
              </a:solidFill>
              <a:latin typeface="Calibri"/>
              <a:ea typeface="Calibri"/>
              <a:cs typeface="Calibri"/>
              <a:sym typeface="Calibri"/>
            </a:endParaRPr>
          </a:p>
        </p:txBody>
      </p:sp>
      <p:sp>
        <p:nvSpPr>
          <p:cNvPr id="190" name="Google Shape;190;g3960c71d1ba_0_4"/>
          <p:cNvSpPr txBox="1"/>
          <p:nvPr/>
        </p:nvSpPr>
        <p:spPr>
          <a:xfrm>
            <a:off x="1457175" y="4820400"/>
            <a:ext cx="5998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a:solidFill>
                  <a:schemeClr val="dk1"/>
                </a:solidFill>
              </a:rPr>
              <a:t>Website is live at </a:t>
            </a:r>
            <a:r>
              <a:rPr lang="en-US" sz="900" u="sng">
                <a:solidFill>
                  <a:schemeClr val="hlink"/>
                </a:solidFill>
                <a:hlinkClick r:id="rId3"/>
              </a:rPr>
              <a:t>bussewa.infinityfreeapp.com/BCA-4TH-PROJECT-BUS-RESERVATION/pages/public/home.php</a:t>
            </a:r>
            <a:endParaRPr sz="800"/>
          </a:p>
        </p:txBody>
      </p:sp>
      <p:sp>
        <p:nvSpPr>
          <p:cNvPr id="191" name="Google Shape;191;g3960c71d1ba_0_4"/>
          <p:cNvSpPr txBox="1"/>
          <p:nvPr/>
        </p:nvSpPr>
        <p:spPr>
          <a:xfrm>
            <a:off x="457200" y="640200"/>
            <a:ext cx="8110500" cy="4617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600" u="sng">
                <a:solidFill>
                  <a:schemeClr val="hlink"/>
                </a:solidFill>
                <a:hlinkClick r:id="rId4"/>
              </a:rPr>
              <a:t>https://www.bussewanepal.com</a:t>
            </a:r>
            <a:endParaRPr sz="1600">
              <a:solidFill>
                <a:schemeClr val="dk1"/>
              </a:solidFill>
            </a:endParaRPr>
          </a:p>
          <a:p>
            <a:pPr indent="0" lvl="0" marL="0" rtl="0" algn="just">
              <a:spcBef>
                <a:spcPts val="0"/>
              </a:spcBef>
              <a:spcAft>
                <a:spcPts val="0"/>
              </a:spcAft>
              <a:buNone/>
            </a:pPr>
            <a:r>
              <a:rPr lang="en-US" sz="1600" u="sng">
                <a:solidFill>
                  <a:schemeClr val="hlink"/>
                </a:solidFill>
                <a:hlinkClick r:id="rId5"/>
              </a:rPr>
              <a:t>https://www.sourcecodester.com/php/5012/online-bus-ticket-reservation-using-phpmysql.html</a:t>
            </a:r>
            <a:endParaRPr sz="1600">
              <a:solidFill>
                <a:schemeClr val="dk1"/>
              </a:solidFill>
            </a:endParaRPr>
          </a:p>
          <a:p>
            <a:pPr indent="0" lvl="0" marL="0" rtl="0" algn="just">
              <a:spcBef>
                <a:spcPts val="0"/>
              </a:spcBef>
              <a:spcAft>
                <a:spcPts val="0"/>
              </a:spcAft>
              <a:buNone/>
            </a:pPr>
            <a:r>
              <a:rPr lang="en-US" sz="1600" u="sng">
                <a:solidFill>
                  <a:schemeClr val="hlink"/>
                </a:solidFill>
                <a:hlinkClick r:id="rId6"/>
              </a:rPr>
              <a:t>https://www.ijraset.com/research-paper/online-quick-bus-ticket-reservation-system</a:t>
            </a:r>
            <a:endParaRPr sz="1600">
              <a:solidFill>
                <a:schemeClr val="dk1"/>
              </a:solidFill>
            </a:endParaRPr>
          </a:p>
          <a:p>
            <a:pPr indent="0" lvl="0" marL="914400" rtl="0" algn="just">
              <a:spcBef>
                <a:spcPts val="0"/>
              </a:spcBef>
              <a:spcAft>
                <a:spcPts val="0"/>
              </a:spcAft>
              <a:buNone/>
            </a:pPr>
            <a:r>
              <a:t/>
            </a:r>
            <a:endParaRPr sz="1600">
              <a:solidFill>
                <a:schemeClr val="dk1"/>
              </a:solidFill>
            </a:endParaRPr>
          </a:p>
          <a:p>
            <a:pPr indent="0" lvl="0" marL="0" rtl="0" algn="just">
              <a:spcBef>
                <a:spcPts val="0"/>
              </a:spcBef>
              <a:spcAft>
                <a:spcPts val="0"/>
              </a:spcAft>
              <a:buNone/>
            </a:pPr>
            <a:r>
              <a:rPr lang="en-US" sz="1600" u="sng">
                <a:solidFill>
                  <a:schemeClr val="hlink"/>
                </a:solidFill>
                <a:hlinkClick r:id="rId7"/>
              </a:rPr>
              <a:t>https://www.studocu.com/row/document/pokhara-university/simulation-and-modelling/final-project-report-online-bus-reservation-system-eng-190/134856650</a:t>
            </a:r>
            <a:endParaRPr sz="1600">
              <a:solidFill>
                <a:schemeClr val="dk1"/>
              </a:solidFill>
            </a:endParaRPr>
          </a:p>
          <a:p>
            <a:pPr indent="0" lvl="0" marL="914400" rtl="0" algn="just">
              <a:spcBef>
                <a:spcPts val="0"/>
              </a:spcBef>
              <a:spcAft>
                <a:spcPts val="0"/>
              </a:spcAft>
              <a:buNone/>
            </a:pPr>
            <a:r>
              <a:t/>
            </a:r>
            <a:endParaRPr sz="1600">
              <a:solidFill>
                <a:schemeClr val="dk1"/>
              </a:solidFill>
            </a:endParaRPr>
          </a:p>
          <a:p>
            <a:pPr indent="0" lvl="0" marL="0" rtl="0" algn="just">
              <a:spcBef>
                <a:spcPts val="0"/>
              </a:spcBef>
              <a:spcAft>
                <a:spcPts val="0"/>
              </a:spcAft>
              <a:buNone/>
            </a:pPr>
            <a:r>
              <a:rPr lang="en-US" sz="1600" u="sng">
                <a:solidFill>
                  <a:schemeClr val="hlink"/>
                </a:solidFill>
                <a:hlinkClick r:id="rId8"/>
              </a:rPr>
              <a:t>https://hamrobus.wordpress.com/2015/06/08/nepal-online-bus-booking-hamrobus-com</a:t>
            </a:r>
            <a:endParaRPr sz="1600">
              <a:solidFill>
                <a:schemeClr val="dk1"/>
              </a:solidFill>
            </a:endParaRPr>
          </a:p>
          <a:p>
            <a:pPr indent="0" lvl="0" marL="0" rtl="0" algn="just">
              <a:spcBef>
                <a:spcPts val="0"/>
              </a:spcBef>
              <a:spcAft>
                <a:spcPts val="0"/>
              </a:spcAft>
              <a:buNone/>
            </a:pPr>
            <a:r>
              <a:rPr lang="en-US" sz="1600" u="sng">
                <a:solidFill>
                  <a:schemeClr val="hlink"/>
                </a:solidFill>
                <a:hlinkClick r:id="rId9"/>
              </a:rPr>
              <a:t>https://iiste.org/Journals/index.php/CEIS/article/view/18128</a:t>
            </a:r>
            <a:endParaRPr sz="1600">
              <a:solidFill>
                <a:schemeClr val="dk1"/>
              </a:solidFill>
            </a:endParaRPr>
          </a:p>
          <a:p>
            <a:pPr indent="0" lvl="0" marL="0" rtl="0" algn="just">
              <a:spcBef>
                <a:spcPts val="0"/>
              </a:spcBef>
              <a:spcAft>
                <a:spcPts val="0"/>
              </a:spcAft>
              <a:buNone/>
            </a:pPr>
            <a:r>
              <a:t/>
            </a:r>
            <a:endParaRPr sz="1600">
              <a:solidFill>
                <a:schemeClr val="dk1"/>
              </a:solidFill>
            </a:endParaRPr>
          </a:p>
          <a:p>
            <a:pPr indent="0" lvl="0" marL="0" rtl="0" algn="just">
              <a:spcBef>
                <a:spcPts val="0"/>
              </a:spcBef>
              <a:spcAft>
                <a:spcPts val="0"/>
              </a:spcAft>
              <a:buNone/>
            </a:pPr>
            <a:r>
              <a:rPr lang="en-US" sz="1600" u="sng">
                <a:solidFill>
                  <a:schemeClr val="hlink"/>
                </a:solidFill>
                <a:hlinkClick r:id="rId10"/>
              </a:rPr>
              <a:t>https://www.ioinformatic.org/index.php/JAIEA/article/view/934</a:t>
            </a:r>
            <a:endParaRPr sz="1600">
              <a:solidFill>
                <a:schemeClr val="dk1"/>
              </a:solidFill>
            </a:endParaRPr>
          </a:p>
          <a:p>
            <a:pPr indent="0" lvl="0" marL="0" rtl="0" algn="just">
              <a:spcBef>
                <a:spcPts val="0"/>
              </a:spcBef>
              <a:spcAft>
                <a:spcPts val="0"/>
              </a:spcAft>
              <a:buNone/>
            </a:pPr>
            <a:r>
              <a:t/>
            </a:r>
            <a:endParaRPr sz="1600">
              <a:solidFill>
                <a:schemeClr val="dk1"/>
              </a:solidFill>
            </a:endParaRPr>
          </a:p>
          <a:p>
            <a:pPr indent="0" lvl="0" marL="0" rtl="0" algn="just">
              <a:spcBef>
                <a:spcPts val="0"/>
              </a:spcBef>
              <a:spcAft>
                <a:spcPts val="0"/>
              </a:spcAft>
              <a:buNone/>
            </a:pPr>
            <a:r>
              <a:rPr lang="en-US" sz="1600">
                <a:solidFill>
                  <a:schemeClr val="dk1"/>
                </a:solidFill>
              </a:rPr>
              <a:t> </a:t>
            </a:r>
            <a:r>
              <a:rPr lang="en-US" sz="1600" u="sng">
                <a:solidFill>
                  <a:schemeClr val="hlink"/>
                </a:solidFill>
                <a:hlinkClick r:id="rId11"/>
              </a:rPr>
              <a:t>https://arkajainuniversity.ac.in/naac/dvv-clarification/Criteria%201/1.3.4/1_3_4_DOCUMENTS/MCA/AJU210650.pdf</a:t>
            </a:r>
            <a:endParaRPr sz="1600">
              <a:solidFill>
                <a:schemeClr val="dk1"/>
              </a:solidFill>
            </a:endParaRPr>
          </a:p>
          <a:p>
            <a:pPr indent="0" lvl="0" marL="0" rtl="0" algn="just">
              <a:spcBef>
                <a:spcPts val="0"/>
              </a:spcBef>
              <a:spcAft>
                <a:spcPts val="0"/>
              </a:spcAft>
              <a:buNone/>
            </a:pPr>
            <a:r>
              <a:t/>
            </a:r>
            <a:endParaRPr sz="1600">
              <a:solidFill>
                <a:schemeClr val="dk1"/>
              </a:solidFill>
            </a:endParaRPr>
          </a:p>
          <a:p>
            <a:pPr indent="0" lvl="0" marL="0" rtl="0" algn="just">
              <a:spcBef>
                <a:spcPts val="0"/>
              </a:spcBef>
              <a:spcAft>
                <a:spcPts val="0"/>
              </a:spcAft>
              <a:buNone/>
            </a:pPr>
            <a:r>
              <a:t/>
            </a:r>
            <a:endParaRPr sz="16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8090"/>
        </a:solidFill>
      </p:bgPr>
    </p:bg>
    <p:spTree>
      <p:nvGrpSpPr>
        <p:cNvPr id="196" name="Shape 196"/>
        <p:cNvGrpSpPr/>
        <p:nvPr/>
      </p:nvGrpSpPr>
      <p:grpSpPr>
        <a:xfrm>
          <a:off x="0" y="0"/>
          <a:ext cx="0" cy="0"/>
          <a:chOff x="0" y="0"/>
          <a:chExt cx="0" cy="0"/>
        </a:xfrm>
      </p:grpSpPr>
      <p:sp>
        <p:nvSpPr>
          <p:cNvPr id="197" name="Google Shape;197;p18"/>
          <p:cNvSpPr/>
          <p:nvPr/>
        </p:nvSpPr>
        <p:spPr>
          <a:xfrm>
            <a:off x="457200" y="1828800"/>
            <a:ext cx="8229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Thank You</a:t>
            </a:r>
            <a:endParaRPr b="0" i="0" sz="4800" u="none" cap="none" strike="noStrike">
              <a:solidFill>
                <a:schemeClr val="dk1"/>
              </a:solidFill>
              <a:latin typeface="Calibri"/>
              <a:ea typeface="Calibri"/>
              <a:cs typeface="Calibri"/>
              <a:sym typeface="Calibri"/>
            </a:endParaRPr>
          </a:p>
        </p:txBody>
      </p:sp>
      <p:sp>
        <p:nvSpPr>
          <p:cNvPr id="198" name="Google Shape;198;p18"/>
          <p:cNvSpPr/>
          <p:nvPr/>
        </p:nvSpPr>
        <p:spPr>
          <a:xfrm>
            <a:off x="457200" y="3931920"/>
            <a:ext cx="82296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1F1F1"/>
              </a:buClr>
              <a:buSzPts val="1600"/>
              <a:buFont typeface="Calibri"/>
              <a:buNone/>
            </a:pPr>
            <a:r>
              <a:rPr b="0" i="0" lang="en-US" sz="1600" u="none" cap="none" strike="noStrike">
                <a:solidFill>
                  <a:srgbClr val="F1F1F1"/>
                </a:solidFill>
                <a:latin typeface="Calibri"/>
                <a:ea typeface="Calibri"/>
                <a:cs typeface="Calibri"/>
                <a:sym typeface="Calibri"/>
              </a:rPr>
              <a:t>Udesh Regmi &amp; Sangam Sedai</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1F1F1"/>
              </a:buClr>
              <a:buSzPts val="1600"/>
              <a:buFont typeface="Calibri"/>
              <a:buNone/>
            </a:pPr>
            <a:r>
              <a:rPr b="0" i="0" lang="en-US" sz="1600" u="none" cap="none" strike="noStrike">
                <a:solidFill>
                  <a:srgbClr val="F1F1F1"/>
                </a:solidFill>
                <a:latin typeface="Calibri"/>
                <a:ea typeface="Calibri"/>
                <a:cs typeface="Calibri"/>
                <a:sym typeface="Calibri"/>
              </a:rPr>
              <a:t>Nepalaya College, Kalanki, Kathmandu</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1F1F1"/>
              </a:buClr>
              <a:buSzPts val="1600"/>
              <a:buFont typeface="Calibri"/>
              <a:buNone/>
            </a:pPr>
            <a:r>
              <a:rPr lang="en-US" sz="1600">
                <a:solidFill>
                  <a:srgbClr val="F1F1F1"/>
                </a:solidFill>
                <a:latin typeface="Calibri"/>
                <a:ea typeface="Calibri"/>
                <a:cs typeface="Calibri"/>
                <a:sym typeface="Calibri"/>
              </a:rPr>
              <a:t>March, </a:t>
            </a:r>
            <a:r>
              <a:rPr b="0" i="0" lang="en-US" sz="1600" u="none" cap="none" strike="noStrike">
                <a:solidFill>
                  <a:srgbClr val="F1F1F1"/>
                </a:solidFill>
                <a:latin typeface="Calibri"/>
                <a:ea typeface="Calibri"/>
                <a:cs typeface="Calibri"/>
                <a:sym typeface="Calibri"/>
              </a:rPr>
              <a:t>2026</a:t>
            </a:r>
            <a:endParaRPr b="0" i="0" sz="1600" u="none" cap="none" strike="noStrike">
              <a:solidFill>
                <a:schemeClr val="dk1"/>
              </a:solidFill>
              <a:latin typeface="Calibri"/>
              <a:ea typeface="Calibri"/>
              <a:cs typeface="Calibri"/>
              <a:sym typeface="Calibri"/>
            </a:endParaRPr>
          </a:p>
        </p:txBody>
      </p:sp>
      <p:sp>
        <p:nvSpPr>
          <p:cNvPr id="199" name="Google Shape;199;p18"/>
          <p:cNvSpPr txBox="1"/>
          <p:nvPr/>
        </p:nvSpPr>
        <p:spPr>
          <a:xfrm>
            <a:off x="1709325" y="2977275"/>
            <a:ext cx="59982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00">
                <a:solidFill>
                  <a:schemeClr val="lt1"/>
                </a:solidFill>
                <a:uFill>
                  <a:noFill/>
                </a:uFill>
                <a:hlinkClick r:id="rId3">
                  <a:extLst>
                    <a:ext uri="{A12FA001-AC4F-418D-AE19-62706E023703}">
                      <ahyp:hlinkClr val="tx"/>
                    </a:ext>
                  </a:extLst>
                </a:hlinkClick>
              </a:rPr>
              <a:t>bussewa.infinityfreeapp.com/BCA-4TH-PROJECT-BUS-RESERVATION/pages/public/home.php</a:t>
            </a:r>
            <a:endParaRPr sz="8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2026-03-12T10:46:00Z</dcterms:created>
  <dc:creator>Udesh Regmi &amp; Sangam Sedai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5A1F7DBC4A3A444DB1E7818409E45975_12</vt:lpwstr>
  </property>
  <property fmtid="{D5CDD505-2E9C-101B-9397-08002B2CF9AE}" pid="3" name="KSOProductBuildVer">
    <vt:lpwstr>1033-12.2.0.23196</vt:lpwstr>
  </property>
</Properties>
</file>